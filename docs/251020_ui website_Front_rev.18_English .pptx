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92" r:id="rId2"/>
    <p:sldId id="356" r:id="rId3"/>
    <p:sldId id="355" r:id="rId4"/>
    <p:sldId id="362" r:id="rId5"/>
    <p:sldId id="363" r:id="rId6"/>
    <p:sldId id="291" r:id="rId7"/>
    <p:sldId id="364" r:id="rId8"/>
    <p:sldId id="357" r:id="rId9"/>
    <p:sldId id="294" r:id="rId10"/>
    <p:sldId id="359" r:id="rId11"/>
    <p:sldId id="3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88F43A-E3EE-417D-95FC-A615D59CC5EB}">
          <p14:sldIdLst>
            <p14:sldId id="292"/>
          </p14:sldIdLst>
        </p14:section>
        <p14:section name="Home" id="{AB04D6E9-CA1C-4983-A839-B636B4828A0F}">
          <p14:sldIdLst>
            <p14:sldId id="356"/>
            <p14:sldId id="355"/>
          </p14:sldIdLst>
        </p14:section>
        <p14:section name="Live Cameras" id="{DA639315-4272-4181-B573-696D55625FD9}">
          <p14:sldIdLst>
            <p14:sldId id="362"/>
            <p14:sldId id="363"/>
            <p14:sldId id="291"/>
            <p14:sldId id="364"/>
          </p14:sldIdLst>
        </p14:section>
        <p14:section name="Station Statistics" id="{F628F419-E0A4-47BE-8524-F24985C1CFA9}">
          <p14:sldIdLst>
            <p14:sldId id="357"/>
          </p14:sldIdLst>
        </p14:section>
        <p14:section name="Report" id="{32B03F41-C342-4610-B765-4E665FCD05E4}">
          <p14:sldIdLst>
            <p14:sldId id="294"/>
          </p14:sldIdLst>
        </p14:section>
        <p14:section name="Event Log" id="{F6ACF44D-7768-41C9-95DB-BD12FD8AB124}">
          <p14:sldIdLst>
            <p14:sldId id="359"/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AE3E3"/>
    <a:srgbClr val="FDF4E1"/>
    <a:srgbClr val="FFFFFF"/>
    <a:srgbClr val="2DA4D9"/>
    <a:srgbClr val="E0F3FB"/>
    <a:srgbClr val="38384F"/>
    <a:srgbClr val="2196F3"/>
    <a:srgbClr val="B3D2DD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90791" autoAdjust="0"/>
  </p:normalViewPr>
  <p:slideViewPr>
    <p:cSldViewPr snapToGrid="0">
      <p:cViewPr varScale="1">
        <p:scale>
          <a:sx n="135" d="100"/>
          <a:sy n="135" d="100"/>
        </p:scale>
        <p:origin x="756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2D210-6A5D-46B3-B384-9BCAC7B4AC91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43349-532D-4BD4-810C-9CE2216C087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241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3008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9708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976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767C-2F3E-709E-9E31-2F8DFC67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4ABFA-D9F1-4A39-1EF9-C398AA074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61645-6D34-0A47-F24F-1A9924012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BC27A-47DE-7CAA-5B8A-4C2CD5593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1715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61AE-1C5D-F9AA-3428-9D2AD128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FA071-BFDE-EC6A-5B51-A4F0EB950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876C0-599F-7866-1029-60C4B2BFC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5C7B3-D18D-0E54-C172-42BC84913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74015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7619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3A4D-2701-737C-FFCB-BC125F48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5755E-3DAA-E90F-844D-D5794D1E5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15E1F-DDFD-90D0-2AB7-02E7B63C7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7371D-8C95-4676-CD51-15BC24138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6589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41F8-06BE-191E-4EC5-875D3744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E06DD-D44B-B917-80AA-0C78BA283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A11E-422A-7932-2E48-E356BE676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670F6-05F0-576A-AB4F-C604F4CD6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6171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6275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t" latinLnBrk="0" hangingPunct="1">
              <a:buNone/>
            </a:pPr>
            <a:endParaRPr lang="th-TH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9349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E2785-E322-3B35-01F5-73A348F1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35172-3F33-84ED-F64D-F2D2C2A71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EEECB-F664-4DC6-24D2-DF1F629C7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t" latinLnBrk="0" hangingPunct="1">
              <a:buNone/>
            </a:pPr>
            <a:endParaRPr lang="th-TH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A7BE-AF5E-1725-D776-506AF38E2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1909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03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500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324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261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507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230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58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819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851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29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334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2F69-464D-4AA2-B308-33A721E67D87}" type="datetimeFigureOut">
              <a:rPr lang="th-TH" smtClean="0"/>
              <a:t>28/04/69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54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jp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AFC3-B171-5ABD-6750-454C69CD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4581029"/>
          </a:xfrm>
        </p:spPr>
        <p:txBody>
          <a:bodyPr/>
          <a:lstStyle/>
          <a:p>
            <a:pPr algn="ctr"/>
            <a:r>
              <a:rPr lang="af-ZA" dirty="0"/>
              <a:t>Frontend / Public Website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793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953A-F9C5-81DC-A1E2-5FA2D413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02CE6D-5A65-14B8-1C05-28BB341B3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25937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 - </a:t>
                      </a:r>
                      <a:r>
                        <a:rPr lang="th-TH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หน้าหลัก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33CC77C2-D95C-15EE-B1F8-A8813504A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" y="382709"/>
            <a:ext cx="9143128" cy="48834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8215D39-3F9F-5A61-BA77-1E1CCD08B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FAC2E45-89EB-3962-F2EF-53D9DA34E9E3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C7D66D-3C4C-744A-1A19-5E094686F09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10A2A8-1AE0-9005-DF74-6AE0F54EB3CB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65521AEB-486E-9944-6118-2DB1327139F3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9AF198-3A08-D8EC-AA8F-117ED13D93E2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9663A0-8300-71E4-AF64-32EC95B6BD87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4BEB23-57DF-30D1-4B80-32650C242497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6308D80-1EB9-7FBD-B683-213424A828FA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A515A73-0BF5-068A-231D-9E319A4A5776}"/>
              </a:ext>
            </a:extLst>
          </p:cNvPr>
          <p:cNvSpPr txBox="1"/>
          <p:nvPr/>
        </p:nvSpPr>
        <p:spPr>
          <a:xfrm>
            <a:off x="9613301" y="645906"/>
            <a:ext cx="3307180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Map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Display location of stations on Map</a:t>
            </a:r>
          </a:p>
          <a:p>
            <a:pPr marL="285750" indent="-285750">
              <a:buFontTx/>
              <a:buChar char="-"/>
            </a:pPr>
            <a:r>
              <a:rPr lang="en-US" dirty="0"/>
              <a:t>Station Icon Type depend on site Type (WL, RF, WL + RF)</a:t>
            </a:r>
          </a:p>
          <a:p>
            <a:r>
              <a:rPr lang="en-US" dirty="0"/>
              <a:t>-    Can be filter and select Project and River Basin or each station to display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776A35-5E9A-872D-EE01-EDAF42BB7718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59DA8CB-ED2D-5B41-22B3-A4D48D7F7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B17EEB3B-B3A6-768C-C28D-1DB6DD24B42B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A2F9D57-98B7-AD5B-469B-FCAA181BC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434" y="4439865"/>
            <a:ext cx="1697688" cy="7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5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953A-F9C5-81DC-A1E2-5FA2D413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09638E-23D2-4461-D904-60C9785E12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395141"/>
            <a:ext cx="9144000" cy="486483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33C9EEA-6783-65A7-2620-9B1438896DC8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A0B982-47D1-951D-1E75-C91CBB69942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553203-AD81-DE8B-217F-081BE19AF0C4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3C7EB073-2EEE-1ED6-BDC3-ED6E3BDA17E0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A0E510-9537-146E-8E80-1A7AEB06B4B9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4DC609-DF7D-5A2A-F487-35345633AECB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796F49-230F-27B3-80C9-89D352AB6914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37" name="Arrow: Down 36">
              <a:extLst>
                <a:ext uri="{FF2B5EF4-FFF2-40B4-BE49-F238E27FC236}">
                  <a16:creationId xmlns:a16="http://schemas.microsoft.com/office/drawing/2014/main" id="{19885174-566C-E1CC-273E-8D538D73EA45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3272CA6-9F56-C738-52F0-6E3F126BF7E4}"/>
              </a:ext>
            </a:extLst>
          </p:cNvPr>
          <p:cNvGrpSpPr/>
          <p:nvPr/>
        </p:nvGrpSpPr>
        <p:grpSpPr>
          <a:xfrm>
            <a:off x="3829855" y="991895"/>
            <a:ext cx="2249054" cy="2975195"/>
            <a:chOff x="4558994" y="1464909"/>
            <a:chExt cx="2249054" cy="2975195"/>
          </a:xfrm>
        </p:grpSpPr>
        <p:sp>
          <p:nvSpPr>
            <p:cNvPr id="38" name="Speech Bubble: Rectangle 34">
              <a:extLst>
                <a:ext uri="{FF2B5EF4-FFF2-40B4-BE49-F238E27FC236}">
                  <a16:creationId xmlns:a16="http://schemas.microsoft.com/office/drawing/2014/main" id="{8E175E5A-7A49-A1D0-4FDF-E53234AA2246}"/>
                </a:ext>
              </a:extLst>
            </p:cNvPr>
            <p:cNvSpPr/>
            <p:nvPr/>
          </p:nvSpPr>
          <p:spPr>
            <a:xfrm>
              <a:off x="4558994" y="2111460"/>
              <a:ext cx="1390699" cy="1631179"/>
            </a:xfrm>
            <a:custGeom>
              <a:avLst/>
              <a:gdLst>
                <a:gd name="connsiteX0" fmla="*/ 0 w 1645918"/>
                <a:gd name="connsiteY0" fmla="*/ 0 h 3536837"/>
                <a:gd name="connsiteX1" fmla="*/ 274320 w 1645918"/>
                <a:gd name="connsiteY1" fmla="*/ 0 h 3536837"/>
                <a:gd name="connsiteX2" fmla="*/ 274320 w 1645918"/>
                <a:gd name="connsiteY2" fmla="*/ 0 h 3536837"/>
                <a:gd name="connsiteX3" fmla="*/ 685799 w 1645918"/>
                <a:gd name="connsiteY3" fmla="*/ 0 h 3536837"/>
                <a:gd name="connsiteX4" fmla="*/ 1645918 w 1645918"/>
                <a:gd name="connsiteY4" fmla="*/ 0 h 3536837"/>
                <a:gd name="connsiteX5" fmla="*/ 1645918 w 1645918"/>
                <a:gd name="connsiteY5" fmla="*/ 2063155 h 3536837"/>
                <a:gd name="connsiteX6" fmla="*/ 1645918 w 1645918"/>
                <a:gd name="connsiteY6" fmla="*/ 2063155 h 3536837"/>
                <a:gd name="connsiteX7" fmla="*/ 1645918 w 1645918"/>
                <a:gd name="connsiteY7" fmla="*/ 2947364 h 3536837"/>
                <a:gd name="connsiteX8" fmla="*/ 1645918 w 1645918"/>
                <a:gd name="connsiteY8" fmla="*/ 3536837 h 3536837"/>
                <a:gd name="connsiteX9" fmla="*/ 685799 w 1645918"/>
                <a:gd name="connsiteY9" fmla="*/ 3536837 h 3536837"/>
                <a:gd name="connsiteX10" fmla="*/ 274320 w 1645918"/>
                <a:gd name="connsiteY10" fmla="*/ 3536837 h 3536837"/>
                <a:gd name="connsiteX11" fmla="*/ 274320 w 1645918"/>
                <a:gd name="connsiteY11" fmla="*/ 3536837 h 3536837"/>
                <a:gd name="connsiteX12" fmla="*/ 0 w 1645918"/>
                <a:gd name="connsiteY12" fmla="*/ 3536837 h 3536837"/>
                <a:gd name="connsiteX13" fmla="*/ 0 w 1645918"/>
                <a:gd name="connsiteY13" fmla="*/ 2947364 h 3536837"/>
                <a:gd name="connsiteX14" fmla="*/ -824720 w 1645918"/>
                <a:gd name="connsiteY14" fmla="*/ 2068165 h 3536837"/>
                <a:gd name="connsiteX15" fmla="*/ 0 w 1645918"/>
                <a:gd name="connsiteY15" fmla="*/ 2063155 h 3536837"/>
                <a:gd name="connsiteX16" fmla="*/ 0 w 1645918"/>
                <a:gd name="connsiteY16" fmla="*/ 0 h 3536837"/>
                <a:gd name="connsiteX0" fmla="*/ 824720 w 2470638"/>
                <a:gd name="connsiteY0" fmla="*/ 0 h 3536837"/>
                <a:gd name="connsiteX1" fmla="*/ 1099040 w 2470638"/>
                <a:gd name="connsiteY1" fmla="*/ 0 h 3536837"/>
                <a:gd name="connsiteX2" fmla="*/ 1099040 w 2470638"/>
                <a:gd name="connsiteY2" fmla="*/ 0 h 3536837"/>
                <a:gd name="connsiteX3" fmla="*/ 1510519 w 2470638"/>
                <a:gd name="connsiteY3" fmla="*/ 0 h 3536837"/>
                <a:gd name="connsiteX4" fmla="*/ 2470638 w 2470638"/>
                <a:gd name="connsiteY4" fmla="*/ 0 h 3536837"/>
                <a:gd name="connsiteX5" fmla="*/ 2470638 w 2470638"/>
                <a:gd name="connsiteY5" fmla="*/ 2063155 h 3536837"/>
                <a:gd name="connsiteX6" fmla="*/ 2470638 w 2470638"/>
                <a:gd name="connsiteY6" fmla="*/ 2063155 h 3536837"/>
                <a:gd name="connsiteX7" fmla="*/ 2470638 w 2470638"/>
                <a:gd name="connsiteY7" fmla="*/ 2947364 h 3536837"/>
                <a:gd name="connsiteX8" fmla="*/ 2470638 w 2470638"/>
                <a:gd name="connsiteY8" fmla="*/ 3536837 h 3536837"/>
                <a:gd name="connsiteX9" fmla="*/ 1510519 w 2470638"/>
                <a:gd name="connsiteY9" fmla="*/ 3536837 h 3536837"/>
                <a:gd name="connsiteX10" fmla="*/ 1099040 w 2470638"/>
                <a:gd name="connsiteY10" fmla="*/ 3536837 h 3536837"/>
                <a:gd name="connsiteX11" fmla="*/ 1099040 w 2470638"/>
                <a:gd name="connsiteY11" fmla="*/ 3536837 h 3536837"/>
                <a:gd name="connsiteX12" fmla="*/ 824720 w 2470638"/>
                <a:gd name="connsiteY12" fmla="*/ 3536837 h 3536837"/>
                <a:gd name="connsiteX13" fmla="*/ 824720 w 2470638"/>
                <a:gd name="connsiteY13" fmla="*/ 2306014 h 3536837"/>
                <a:gd name="connsiteX14" fmla="*/ 0 w 2470638"/>
                <a:gd name="connsiteY14" fmla="*/ 2068165 h 3536837"/>
                <a:gd name="connsiteX15" fmla="*/ 824720 w 2470638"/>
                <a:gd name="connsiteY15" fmla="*/ 2063155 h 3536837"/>
                <a:gd name="connsiteX16" fmla="*/ 824720 w 2470638"/>
                <a:gd name="connsiteY16" fmla="*/ 0 h 3536837"/>
                <a:gd name="connsiteX0" fmla="*/ 824720 w 2470638"/>
                <a:gd name="connsiteY0" fmla="*/ 0 h 3536837"/>
                <a:gd name="connsiteX1" fmla="*/ 1099040 w 2470638"/>
                <a:gd name="connsiteY1" fmla="*/ 0 h 3536837"/>
                <a:gd name="connsiteX2" fmla="*/ 1099040 w 2470638"/>
                <a:gd name="connsiteY2" fmla="*/ 0 h 3536837"/>
                <a:gd name="connsiteX3" fmla="*/ 1510519 w 2470638"/>
                <a:gd name="connsiteY3" fmla="*/ 0 h 3536837"/>
                <a:gd name="connsiteX4" fmla="*/ 2470638 w 2470638"/>
                <a:gd name="connsiteY4" fmla="*/ 0 h 3536837"/>
                <a:gd name="connsiteX5" fmla="*/ 2470638 w 2470638"/>
                <a:gd name="connsiteY5" fmla="*/ 2063155 h 3536837"/>
                <a:gd name="connsiteX6" fmla="*/ 2470638 w 2470638"/>
                <a:gd name="connsiteY6" fmla="*/ 2063155 h 3536837"/>
                <a:gd name="connsiteX7" fmla="*/ 2470638 w 2470638"/>
                <a:gd name="connsiteY7" fmla="*/ 2947364 h 3536837"/>
                <a:gd name="connsiteX8" fmla="*/ 2470638 w 2470638"/>
                <a:gd name="connsiteY8" fmla="*/ 3536837 h 3536837"/>
                <a:gd name="connsiteX9" fmla="*/ 1510519 w 2470638"/>
                <a:gd name="connsiteY9" fmla="*/ 3536837 h 3536837"/>
                <a:gd name="connsiteX10" fmla="*/ 1099040 w 2470638"/>
                <a:gd name="connsiteY10" fmla="*/ 3536837 h 3536837"/>
                <a:gd name="connsiteX11" fmla="*/ 1099040 w 2470638"/>
                <a:gd name="connsiteY11" fmla="*/ 3536837 h 3536837"/>
                <a:gd name="connsiteX12" fmla="*/ 824720 w 2470638"/>
                <a:gd name="connsiteY12" fmla="*/ 3536837 h 3536837"/>
                <a:gd name="connsiteX13" fmla="*/ 824720 w 2470638"/>
                <a:gd name="connsiteY13" fmla="*/ 2306014 h 3536837"/>
                <a:gd name="connsiteX14" fmla="*/ 0 w 2470638"/>
                <a:gd name="connsiteY14" fmla="*/ 2068165 h 3536837"/>
                <a:gd name="connsiteX15" fmla="*/ 817946 w 2470638"/>
                <a:gd name="connsiteY15" fmla="*/ 1424296 h 3536837"/>
                <a:gd name="connsiteX16" fmla="*/ 824720 w 2470638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27067 w 1772985"/>
                <a:gd name="connsiteY13" fmla="*/ 2306014 h 3536837"/>
                <a:gd name="connsiteX14" fmla="*/ 0 w 1772985"/>
                <a:gd name="connsiteY14" fmla="*/ 1891929 h 3536837"/>
                <a:gd name="connsiteX15" fmla="*/ 120293 w 1772985"/>
                <a:gd name="connsiteY15" fmla="*/ 1424296 h 3536837"/>
                <a:gd name="connsiteX16" fmla="*/ 127067 w 1772985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16907 w 1772985"/>
                <a:gd name="connsiteY13" fmla="*/ 2091225 h 3536837"/>
                <a:gd name="connsiteX14" fmla="*/ 0 w 1772985"/>
                <a:gd name="connsiteY14" fmla="*/ 1891929 h 3536837"/>
                <a:gd name="connsiteX15" fmla="*/ 120293 w 1772985"/>
                <a:gd name="connsiteY15" fmla="*/ 1424296 h 3536837"/>
                <a:gd name="connsiteX16" fmla="*/ 127067 w 1772985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16907 w 1772985"/>
                <a:gd name="connsiteY13" fmla="*/ 2212388 h 3536837"/>
                <a:gd name="connsiteX14" fmla="*/ 0 w 1772985"/>
                <a:gd name="connsiteY14" fmla="*/ 1891929 h 3536837"/>
                <a:gd name="connsiteX15" fmla="*/ 120293 w 1772985"/>
                <a:gd name="connsiteY15" fmla="*/ 1424296 h 3536837"/>
                <a:gd name="connsiteX16" fmla="*/ 127067 w 1772985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47387 w 1772985"/>
                <a:gd name="connsiteY13" fmla="*/ 2014121 h 3536837"/>
                <a:gd name="connsiteX14" fmla="*/ 0 w 1772985"/>
                <a:gd name="connsiteY14" fmla="*/ 1891929 h 3536837"/>
                <a:gd name="connsiteX15" fmla="*/ 120293 w 1772985"/>
                <a:gd name="connsiteY15" fmla="*/ 1424296 h 3536837"/>
                <a:gd name="connsiteX16" fmla="*/ 127067 w 1772985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47387 w 1772985"/>
                <a:gd name="connsiteY13" fmla="*/ 2014121 h 3536837"/>
                <a:gd name="connsiteX14" fmla="*/ 0 w 1772985"/>
                <a:gd name="connsiteY14" fmla="*/ 1891929 h 3536837"/>
                <a:gd name="connsiteX15" fmla="*/ 120293 w 1772985"/>
                <a:gd name="connsiteY15" fmla="*/ 1765755 h 3536837"/>
                <a:gd name="connsiteX16" fmla="*/ 127067 w 1772985"/>
                <a:gd name="connsiteY16" fmla="*/ 0 h 3536837"/>
                <a:gd name="connsiteX0" fmla="*/ 127067 w 1772985"/>
                <a:gd name="connsiteY0" fmla="*/ 0 h 3536837"/>
                <a:gd name="connsiteX1" fmla="*/ 401387 w 1772985"/>
                <a:gd name="connsiteY1" fmla="*/ 0 h 3536837"/>
                <a:gd name="connsiteX2" fmla="*/ 401387 w 1772985"/>
                <a:gd name="connsiteY2" fmla="*/ 0 h 3536837"/>
                <a:gd name="connsiteX3" fmla="*/ 812866 w 1772985"/>
                <a:gd name="connsiteY3" fmla="*/ 0 h 3536837"/>
                <a:gd name="connsiteX4" fmla="*/ 1772985 w 1772985"/>
                <a:gd name="connsiteY4" fmla="*/ 0 h 3536837"/>
                <a:gd name="connsiteX5" fmla="*/ 1772985 w 1772985"/>
                <a:gd name="connsiteY5" fmla="*/ 2063155 h 3536837"/>
                <a:gd name="connsiteX6" fmla="*/ 1772985 w 1772985"/>
                <a:gd name="connsiteY6" fmla="*/ 2063155 h 3536837"/>
                <a:gd name="connsiteX7" fmla="*/ 1772985 w 1772985"/>
                <a:gd name="connsiteY7" fmla="*/ 2947364 h 3536837"/>
                <a:gd name="connsiteX8" fmla="*/ 1772985 w 1772985"/>
                <a:gd name="connsiteY8" fmla="*/ 3536837 h 3536837"/>
                <a:gd name="connsiteX9" fmla="*/ 812866 w 1772985"/>
                <a:gd name="connsiteY9" fmla="*/ 3536837 h 3536837"/>
                <a:gd name="connsiteX10" fmla="*/ 401387 w 1772985"/>
                <a:gd name="connsiteY10" fmla="*/ 3536837 h 3536837"/>
                <a:gd name="connsiteX11" fmla="*/ 401387 w 1772985"/>
                <a:gd name="connsiteY11" fmla="*/ 3536837 h 3536837"/>
                <a:gd name="connsiteX12" fmla="*/ 127067 w 1772985"/>
                <a:gd name="connsiteY12" fmla="*/ 3536837 h 3536837"/>
                <a:gd name="connsiteX13" fmla="*/ 130453 w 1772985"/>
                <a:gd name="connsiteY13" fmla="*/ 2008614 h 3536837"/>
                <a:gd name="connsiteX14" fmla="*/ 0 w 1772985"/>
                <a:gd name="connsiteY14" fmla="*/ 1891929 h 3536837"/>
                <a:gd name="connsiteX15" fmla="*/ 120293 w 1772985"/>
                <a:gd name="connsiteY15" fmla="*/ 1765755 h 3536837"/>
                <a:gd name="connsiteX16" fmla="*/ 127067 w 1772985"/>
                <a:gd name="connsiteY16" fmla="*/ 0 h 3536837"/>
                <a:gd name="connsiteX0" fmla="*/ 208347 w 1854265"/>
                <a:gd name="connsiteY0" fmla="*/ 0 h 3536837"/>
                <a:gd name="connsiteX1" fmla="*/ 482667 w 1854265"/>
                <a:gd name="connsiteY1" fmla="*/ 0 h 3536837"/>
                <a:gd name="connsiteX2" fmla="*/ 482667 w 1854265"/>
                <a:gd name="connsiteY2" fmla="*/ 0 h 3536837"/>
                <a:gd name="connsiteX3" fmla="*/ 894146 w 1854265"/>
                <a:gd name="connsiteY3" fmla="*/ 0 h 3536837"/>
                <a:gd name="connsiteX4" fmla="*/ 1854265 w 1854265"/>
                <a:gd name="connsiteY4" fmla="*/ 0 h 3536837"/>
                <a:gd name="connsiteX5" fmla="*/ 1854265 w 1854265"/>
                <a:gd name="connsiteY5" fmla="*/ 2063155 h 3536837"/>
                <a:gd name="connsiteX6" fmla="*/ 1854265 w 1854265"/>
                <a:gd name="connsiteY6" fmla="*/ 2063155 h 3536837"/>
                <a:gd name="connsiteX7" fmla="*/ 1854265 w 1854265"/>
                <a:gd name="connsiteY7" fmla="*/ 2947364 h 3536837"/>
                <a:gd name="connsiteX8" fmla="*/ 1854265 w 1854265"/>
                <a:gd name="connsiteY8" fmla="*/ 3536837 h 3536837"/>
                <a:gd name="connsiteX9" fmla="*/ 894146 w 1854265"/>
                <a:gd name="connsiteY9" fmla="*/ 3536837 h 3536837"/>
                <a:gd name="connsiteX10" fmla="*/ 482667 w 1854265"/>
                <a:gd name="connsiteY10" fmla="*/ 3536837 h 3536837"/>
                <a:gd name="connsiteX11" fmla="*/ 482667 w 1854265"/>
                <a:gd name="connsiteY11" fmla="*/ 3536837 h 3536837"/>
                <a:gd name="connsiteX12" fmla="*/ 208347 w 1854265"/>
                <a:gd name="connsiteY12" fmla="*/ 3536837 h 3536837"/>
                <a:gd name="connsiteX13" fmla="*/ 211733 w 1854265"/>
                <a:gd name="connsiteY13" fmla="*/ 2008614 h 3536837"/>
                <a:gd name="connsiteX14" fmla="*/ 0 w 1854265"/>
                <a:gd name="connsiteY14" fmla="*/ 1891929 h 3536837"/>
                <a:gd name="connsiteX15" fmla="*/ 201573 w 1854265"/>
                <a:gd name="connsiteY15" fmla="*/ 1765755 h 3536837"/>
                <a:gd name="connsiteX16" fmla="*/ 208347 w 1854265"/>
                <a:gd name="connsiteY16" fmla="*/ 0 h 353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54265" h="3536837">
                  <a:moveTo>
                    <a:pt x="208347" y="0"/>
                  </a:moveTo>
                  <a:lnTo>
                    <a:pt x="482667" y="0"/>
                  </a:lnTo>
                  <a:lnTo>
                    <a:pt x="482667" y="0"/>
                  </a:lnTo>
                  <a:lnTo>
                    <a:pt x="894146" y="0"/>
                  </a:lnTo>
                  <a:lnTo>
                    <a:pt x="1854265" y="0"/>
                  </a:lnTo>
                  <a:lnTo>
                    <a:pt x="1854265" y="2063155"/>
                  </a:lnTo>
                  <a:lnTo>
                    <a:pt x="1854265" y="2063155"/>
                  </a:lnTo>
                  <a:lnTo>
                    <a:pt x="1854265" y="2947364"/>
                  </a:lnTo>
                  <a:lnTo>
                    <a:pt x="1854265" y="3536837"/>
                  </a:lnTo>
                  <a:lnTo>
                    <a:pt x="894146" y="3536837"/>
                  </a:lnTo>
                  <a:lnTo>
                    <a:pt x="482667" y="3536837"/>
                  </a:lnTo>
                  <a:lnTo>
                    <a:pt x="482667" y="3536837"/>
                  </a:lnTo>
                  <a:lnTo>
                    <a:pt x="208347" y="3536837"/>
                  </a:lnTo>
                  <a:cubicBezTo>
                    <a:pt x="204960" y="3054966"/>
                    <a:pt x="215120" y="2490485"/>
                    <a:pt x="211733" y="2008614"/>
                  </a:cubicBezTo>
                  <a:lnTo>
                    <a:pt x="0" y="1891929"/>
                  </a:lnTo>
                  <a:lnTo>
                    <a:pt x="201573" y="1765755"/>
                  </a:lnTo>
                  <a:lnTo>
                    <a:pt x="20834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1575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97AEA7-BEB6-4698-3F87-35C50712BF22}"/>
                </a:ext>
              </a:extLst>
            </p:cNvPr>
            <p:cNvGrpSpPr/>
            <p:nvPr/>
          </p:nvGrpSpPr>
          <p:grpSpPr>
            <a:xfrm>
              <a:off x="4717401" y="1464909"/>
              <a:ext cx="2090647" cy="2975195"/>
              <a:chOff x="6659017" y="1314127"/>
              <a:chExt cx="2090647" cy="297519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C037D01-2981-B359-9551-71A2803F740F}"/>
                  </a:ext>
                </a:extLst>
              </p:cNvPr>
              <p:cNvGrpSpPr/>
              <p:nvPr/>
            </p:nvGrpSpPr>
            <p:grpSpPr>
              <a:xfrm>
                <a:off x="6659017" y="1314127"/>
                <a:ext cx="2090647" cy="2975195"/>
                <a:chOff x="5946893" y="1175871"/>
                <a:chExt cx="1682177" cy="2338915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0BE6A95-59DB-6161-D91A-E5CC28DD1C96}"/>
                    </a:ext>
                  </a:extLst>
                </p:cNvPr>
                <p:cNvSpPr/>
                <p:nvPr/>
              </p:nvSpPr>
              <p:spPr>
                <a:xfrm>
                  <a:off x="5946893" y="1175871"/>
                  <a:ext cx="1682177" cy="231626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F693816-875D-D51B-2B83-0C24BD781DF3}"/>
                    </a:ext>
                  </a:extLst>
                </p:cNvPr>
                <p:cNvSpPr txBox="1"/>
                <p:nvPr/>
              </p:nvSpPr>
              <p:spPr>
                <a:xfrm>
                  <a:off x="6219468" y="1179951"/>
                  <a:ext cx="1164352" cy="193564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SITE CODE</a:t>
                  </a:r>
                  <a:r>
                    <a:rPr lang="th-TH" sz="10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- รหัสสถานี</a:t>
                  </a:r>
                  <a:endPara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A3B9A9E-3431-F0D6-6B24-D4E2061BF9FD}"/>
                    </a:ext>
                  </a:extLst>
                </p:cNvPr>
                <p:cNvSpPr txBox="1"/>
                <p:nvPr/>
              </p:nvSpPr>
              <p:spPr>
                <a:xfrm>
                  <a:off x="6219469" y="1322371"/>
                  <a:ext cx="1164352" cy="193564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SITE NAME</a:t>
                  </a:r>
                  <a:r>
                    <a:rPr lang="th-TH" sz="10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- ชื่อสถานี</a:t>
                  </a:r>
                  <a:endPara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BF14ECE-2B1D-C21C-FE8B-89C6DB5AA53E}"/>
                    </a:ext>
                  </a:extLst>
                </p:cNvPr>
                <p:cNvSpPr txBox="1"/>
                <p:nvPr/>
              </p:nvSpPr>
              <p:spPr>
                <a:xfrm>
                  <a:off x="5946894" y="2474380"/>
                  <a:ext cx="1608641" cy="1040406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    Measurement Value   Unit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Water Level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  58.55        </a:t>
                  </a:r>
                  <a:r>
                    <a:rPr lang="en-US" sz="1000" dirty="0" err="1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m.MSL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Flow Rate	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   0.00</a:t>
                  </a:r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m3/s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Water Flow Velocity 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0.00          </a:t>
                  </a:r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m/s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Lift Distance            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0.00         </a:t>
                  </a:r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m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Latest Rainfall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20/11/2024 05</a:t>
                  </a:r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:30</a:t>
                  </a:r>
                  <a:endParaRPr lang="th-TH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Last Update</a:t>
                  </a:r>
                  <a:r>
                    <a:rPr lang="th-TH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29/11/2024 01</a:t>
                  </a:r>
                  <a:r>
                    <a:rPr lang="en-US" sz="10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:23</a:t>
                  </a:r>
                </a:p>
                <a:p>
                  <a:r>
                    <a:rPr lang="en-US" sz="1000" dirty="0">
                      <a:solidFill>
                        <a:srgbClr val="0070C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		         More</a:t>
                  </a:r>
                  <a:endPara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4B7832D-FDC5-9F00-218A-91D25C536B30}"/>
                    </a:ext>
                  </a:extLst>
                </p:cNvPr>
                <p:cNvSpPr/>
                <p:nvPr/>
              </p:nvSpPr>
              <p:spPr>
                <a:xfrm>
                  <a:off x="6029325" y="1272008"/>
                  <a:ext cx="190143" cy="190143"/>
                </a:xfrm>
                <a:prstGeom prst="ellipse">
                  <a:avLst/>
                </a:prstGeom>
                <a:solidFill>
                  <a:schemeClr val="accent6"/>
                </a:solidFill>
                <a:ln w="3175"/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p:grp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195476B-6004-5B7C-837F-64016B026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8181" y="1769139"/>
                <a:ext cx="2071483" cy="1170768"/>
              </a:xfrm>
              <a:prstGeom prst="rect">
                <a:avLst/>
              </a:prstGeom>
            </p:spPr>
          </p:pic>
        </p:grp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7973FB-D3D8-67C3-66BD-99F8CD1A6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63017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 - </a:t>
                      </a:r>
                      <a:r>
                        <a:rPr lang="th-TH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หน้าหลัก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92C8D48-1558-1A79-6321-EABC6F8BE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1209C9A-BEEF-C3FE-5EF0-BBDC67C31713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B8F7E5-2A79-CC94-0EC5-610DC471C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36DCF588-A892-759E-DE22-684A1366F4D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F926034-3A8A-3B33-D9C1-FA31A53A8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34" y="4439865"/>
            <a:ext cx="1697688" cy="7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5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4F992-A9E0-6CBF-EB54-EF413FF6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35827FE3-566B-8354-930C-4785F2F1E3C4}"/>
              </a:ext>
            </a:extLst>
          </p:cNvPr>
          <p:cNvSpPr/>
          <p:nvPr/>
        </p:nvSpPr>
        <p:spPr>
          <a:xfrm>
            <a:off x="99792" y="542629"/>
            <a:ext cx="8952931" cy="1010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64E7DC-EAD1-2158-D753-AA96FA666A9B}"/>
              </a:ext>
            </a:extLst>
          </p:cNvPr>
          <p:cNvSpPr/>
          <p:nvPr/>
        </p:nvSpPr>
        <p:spPr>
          <a:xfrm>
            <a:off x="212784" y="4677175"/>
            <a:ext cx="2840983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TC.04 -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สะพานพุทธ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 ลุ่มน้ำเจ้าพระยา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D7AA23-076D-108A-3E2C-1D69DD8EBC07}"/>
              </a:ext>
            </a:extLst>
          </p:cNvPr>
          <p:cNvSpPr/>
          <p:nvPr/>
        </p:nvSpPr>
        <p:spPr>
          <a:xfrm>
            <a:off x="3143081" y="465822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TC.12 -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กรมชลประทาน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C6802-86CE-940B-E264-5820BB49F67A}"/>
              </a:ext>
            </a:extLst>
          </p:cNvPr>
          <p:cNvSpPr/>
          <p:nvPr/>
        </p:nvSpPr>
        <p:spPr>
          <a:xfrm>
            <a:off x="6112395" y="467035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TTC.01–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ปตร.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9AE852-F97B-4113-7513-947187FA4B05}"/>
              </a:ext>
            </a:extLst>
          </p:cNvPr>
          <p:cNvSpPr/>
          <p:nvPr/>
        </p:nvSpPr>
        <p:spPr>
          <a:xfrm>
            <a:off x="157522" y="1907652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ลุ่มน้ำเจ้าพระยา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822795-DCE4-B918-2626-8CF7329AB2A4}"/>
              </a:ext>
            </a:extLst>
          </p:cNvPr>
          <p:cNvSpPr/>
          <p:nvPr/>
        </p:nvSpPr>
        <p:spPr>
          <a:xfrm>
            <a:off x="177980" y="5505421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ลุ่มน้ำป่าสัก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5C2E6-AD1A-7A29-BC37-BF64B14AF8A8}"/>
              </a:ext>
            </a:extLst>
          </p:cNvPr>
          <p:cNvSpPr/>
          <p:nvPr/>
        </p:nvSpPr>
        <p:spPr>
          <a:xfrm>
            <a:off x="201703" y="8333110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TS.KB 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สถานีสูบน้ำ (1)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น.ลุ่มน้ำป่าสัก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3DCAF8-CDBB-E9C4-2DBD-5483FCD4E89D}"/>
              </a:ext>
            </a:extLst>
          </p:cNvPr>
          <p:cNvSpPr/>
          <p:nvPr/>
        </p:nvSpPr>
        <p:spPr>
          <a:xfrm>
            <a:off x="3143081" y="8333110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TS.KB 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สถานีสูบน้ำ (2)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น.ลุ่มน้ำป่าสัก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EFB301-9FA1-3333-94F3-7753A5191515}"/>
              </a:ext>
            </a:extLst>
          </p:cNvPr>
          <p:cNvGrpSpPr/>
          <p:nvPr/>
        </p:nvGrpSpPr>
        <p:grpSpPr>
          <a:xfrm>
            <a:off x="179363" y="645906"/>
            <a:ext cx="4338921" cy="256198"/>
            <a:chOff x="179363" y="645906"/>
            <a:chExt cx="4338921" cy="2561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7F5962-E917-C861-52FB-05F19DE0809C}"/>
                </a:ext>
              </a:extLst>
            </p:cNvPr>
            <p:cNvSpPr/>
            <p:nvPr/>
          </p:nvSpPr>
          <p:spPr>
            <a:xfrm>
              <a:off x="1211761" y="645906"/>
              <a:ext cx="3306523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F8044F-FBF0-0F5C-99BF-A5E5AC437C45}"/>
                </a:ext>
              </a:extLst>
            </p:cNvPr>
            <p:cNvSpPr txBox="1"/>
            <p:nvPr/>
          </p:nvSpPr>
          <p:spPr>
            <a:xfrm>
              <a:off x="179363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โครงการ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176FEC66-CF4C-1EDE-606D-C11F8459FC98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9E2B244-CAB4-50B5-4544-625973EE31AE}"/>
              </a:ext>
            </a:extLst>
          </p:cNvPr>
          <p:cNvGrpSpPr/>
          <p:nvPr/>
        </p:nvGrpSpPr>
        <p:grpSpPr>
          <a:xfrm>
            <a:off x="4652614" y="647315"/>
            <a:ext cx="4223312" cy="256198"/>
            <a:chOff x="647944" y="645906"/>
            <a:chExt cx="3320806" cy="25619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F93937F-31E3-C407-A163-4673863CEB0D}"/>
                </a:ext>
              </a:extLst>
            </p:cNvPr>
            <p:cNvSpPr/>
            <p:nvPr/>
          </p:nvSpPr>
          <p:spPr>
            <a:xfrm>
              <a:off x="1394769" y="645906"/>
              <a:ext cx="2573981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995018-6A66-5249-7BCE-720788530B0C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ลุ่มน้ำ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D18F9F6D-38B4-6D6A-C49C-88AF455B5126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C5450B-424A-8DEB-19A3-7E18E1A99633}"/>
              </a:ext>
            </a:extLst>
          </p:cNvPr>
          <p:cNvSpPr/>
          <p:nvPr/>
        </p:nvSpPr>
        <p:spPr>
          <a:xfrm>
            <a:off x="228797" y="1436805"/>
            <a:ext cx="605208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Search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B9B755-1427-E538-8145-699F58E2756E}"/>
              </a:ext>
            </a:extLst>
          </p:cNvPr>
          <p:cNvGrpSpPr/>
          <p:nvPr/>
        </p:nvGrpSpPr>
        <p:grpSpPr>
          <a:xfrm>
            <a:off x="152067" y="1017853"/>
            <a:ext cx="4366217" cy="256198"/>
            <a:chOff x="152067" y="645906"/>
            <a:chExt cx="4366217" cy="25619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1654F0A-094F-EF57-BE39-5743FCE1269A}"/>
                </a:ext>
              </a:extLst>
            </p:cNvPr>
            <p:cNvSpPr/>
            <p:nvPr/>
          </p:nvSpPr>
          <p:spPr>
            <a:xfrm>
              <a:off x="1211762" y="645906"/>
              <a:ext cx="3306522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Sensor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2CCEF2-F67E-8B1B-DF12-B1FAADD75EEA}"/>
                </a:ext>
              </a:extLst>
            </p:cNvPr>
            <p:cNvSpPr txBox="1"/>
            <p:nvPr/>
          </p:nvSpPr>
          <p:spPr>
            <a:xfrm>
              <a:off x="152067" y="655883"/>
              <a:ext cx="1186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ประเภท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3C11FDAF-3E13-5909-CD23-673F5A514F46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7791C619-CE2D-1947-7D3D-C0F37A57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34" r="16621"/>
          <a:stretch>
            <a:fillRect/>
          </a:stretch>
        </p:blipFill>
        <p:spPr>
          <a:xfrm>
            <a:off x="3141234" y="2163313"/>
            <a:ext cx="2880000" cy="25188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94C454E-D2AF-ED41-2BD7-5295243B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34" r="16621"/>
          <a:stretch>
            <a:fillRect/>
          </a:stretch>
        </p:blipFill>
        <p:spPr>
          <a:xfrm>
            <a:off x="228797" y="2163313"/>
            <a:ext cx="2832358" cy="25188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7FBB03F-8091-0A17-4F63-152C9C3B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34" r="16621"/>
          <a:stretch>
            <a:fillRect/>
          </a:stretch>
        </p:blipFill>
        <p:spPr>
          <a:xfrm>
            <a:off x="6136028" y="2163313"/>
            <a:ext cx="2832358" cy="25188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8293559-AC0B-E20A-5B75-70BF59A6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34" r="16621"/>
          <a:stretch>
            <a:fillRect/>
          </a:stretch>
        </p:blipFill>
        <p:spPr>
          <a:xfrm>
            <a:off x="212784" y="5843604"/>
            <a:ext cx="2880000" cy="25188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ADCD60D-FFFA-3B2F-B49C-F373568CF4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34" r="16621"/>
          <a:stretch>
            <a:fillRect/>
          </a:stretch>
        </p:blipFill>
        <p:spPr>
          <a:xfrm>
            <a:off x="3154162" y="5843604"/>
            <a:ext cx="2832358" cy="251884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32B2FB-A7CC-8AA2-5584-A455F47A3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113426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79DAA53-F279-B048-E05E-AD448DF35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A4516B2-965A-D431-0225-885D1D992DEA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9908D6-D4B8-B698-5F4E-31CDB9C58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7E8BAFD8-F114-492C-473E-3975F339CEAD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8FCC5E-3405-4930-49C1-8B2FAD198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08464"/>
              </p:ext>
            </p:extLst>
          </p:nvPr>
        </p:nvGraphicFramePr>
        <p:xfrm>
          <a:off x="1211761" y="1280947"/>
          <a:ext cx="330652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330652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Overview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Security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7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BC482-88BA-6B7D-53B4-F4BA9259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AB211B-1D77-F60C-A05C-7F991971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3323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Map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093728A-963F-634B-AC17-FD4F59293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B111BC8-A7BF-6AA7-6A46-481B7B20E947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D1782BA-8693-2335-4035-B7C05B24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F36F03B9-57F6-0AB0-335F-699D436A9D0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B5912CD9-80A3-2D46-3909-6F64AB60962D}"/>
              </a:ext>
            </a:extLst>
          </p:cNvPr>
          <p:cNvSpPr/>
          <p:nvPr/>
        </p:nvSpPr>
        <p:spPr>
          <a:xfrm>
            <a:off x="106616" y="542629"/>
            <a:ext cx="8952931" cy="1010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16042B-6AC6-6C5F-D22B-950A597D2B3B}"/>
              </a:ext>
            </a:extLst>
          </p:cNvPr>
          <p:cNvSpPr/>
          <p:nvPr/>
        </p:nvSpPr>
        <p:spPr>
          <a:xfrm>
            <a:off x="212784" y="4677175"/>
            <a:ext cx="2840983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TC.04 -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สะพานพุทธ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 ลุ่มน้ำเจ้าพระยา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EEE38-E00E-3B47-E556-E31DAE2DD753}"/>
              </a:ext>
            </a:extLst>
          </p:cNvPr>
          <p:cNvSpPr/>
          <p:nvPr/>
        </p:nvSpPr>
        <p:spPr>
          <a:xfrm>
            <a:off x="3143081" y="465822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TC.12 -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กรมชลประทาน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759E1-1FDE-CDFF-0C22-89CAFB58E4B5}"/>
              </a:ext>
            </a:extLst>
          </p:cNvPr>
          <p:cNvSpPr/>
          <p:nvPr/>
        </p:nvSpPr>
        <p:spPr>
          <a:xfrm>
            <a:off x="6112395" y="467035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TTC.01–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ปตร.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DED35C-FB92-72E8-1B9E-632403560DA1}"/>
              </a:ext>
            </a:extLst>
          </p:cNvPr>
          <p:cNvSpPr/>
          <p:nvPr/>
        </p:nvSpPr>
        <p:spPr>
          <a:xfrm>
            <a:off x="157522" y="1907652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ลุ่มน้ำเจ้าพระยา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717307-3904-D465-BED2-14DA491B0B09}"/>
              </a:ext>
            </a:extLst>
          </p:cNvPr>
          <p:cNvSpPr/>
          <p:nvPr/>
        </p:nvSpPr>
        <p:spPr>
          <a:xfrm>
            <a:off x="177980" y="5505421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ลุ่มน้ำป่าสัก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F3C27A-BF05-7928-B42D-0B9F36DD4A18}"/>
              </a:ext>
            </a:extLst>
          </p:cNvPr>
          <p:cNvSpPr/>
          <p:nvPr/>
        </p:nvSpPr>
        <p:spPr>
          <a:xfrm>
            <a:off x="201703" y="8333110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TS.KB 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สถานีสูบน้ำ (1)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น.ลุ่มน้ำป่าสัก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C674B0-0691-7A38-989F-2550C91D7887}"/>
              </a:ext>
            </a:extLst>
          </p:cNvPr>
          <p:cNvSpPr/>
          <p:nvPr/>
        </p:nvSpPr>
        <p:spPr>
          <a:xfrm>
            <a:off x="3143081" y="8333110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TS.KB 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สถานีสูบน้ำ (2)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น.ลุ่มน้ำป่าสัก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16D8EC-5416-1AB4-9B6A-360BCBEE370F}"/>
              </a:ext>
            </a:extLst>
          </p:cNvPr>
          <p:cNvGrpSpPr/>
          <p:nvPr/>
        </p:nvGrpSpPr>
        <p:grpSpPr>
          <a:xfrm>
            <a:off x="179363" y="645906"/>
            <a:ext cx="4338921" cy="256198"/>
            <a:chOff x="179363" y="645906"/>
            <a:chExt cx="4338921" cy="2561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39754B-389C-CA4B-A04E-EC842FFEDBC7}"/>
                </a:ext>
              </a:extLst>
            </p:cNvPr>
            <p:cNvSpPr/>
            <p:nvPr/>
          </p:nvSpPr>
          <p:spPr>
            <a:xfrm>
              <a:off x="1211761" y="645906"/>
              <a:ext cx="3306523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6304DB-BE4A-FEC8-4A43-2049A10188AF}"/>
                </a:ext>
              </a:extLst>
            </p:cNvPr>
            <p:cNvSpPr txBox="1"/>
            <p:nvPr/>
          </p:nvSpPr>
          <p:spPr>
            <a:xfrm>
              <a:off x="179363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โครงการ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0733DF08-8428-149E-E6DD-CC79459823F7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EFD382-29C8-A6D5-ED70-33C8CCBD50E8}"/>
              </a:ext>
            </a:extLst>
          </p:cNvPr>
          <p:cNvGrpSpPr/>
          <p:nvPr/>
        </p:nvGrpSpPr>
        <p:grpSpPr>
          <a:xfrm>
            <a:off x="4652614" y="647315"/>
            <a:ext cx="4223312" cy="256198"/>
            <a:chOff x="647944" y="645906"/>
            <a:chExt cx="3320806" cy="25619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C2624FC-A5AA-C725-A2EF-56B309E960C5}"/>
                </a:ext>
              </a:extLst>
            </p:cNvPr>
            <p:cNvSpPr/>
            <p:nvPr/>
          </p:nvSpPr>
          <p:spPr>
            <a:xfrm>
              <a:off x="1394769" y="645906"/>
              <a:ext cx="2573981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5D8719-8D4C-2AA5-798B-22AED7E9EF78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ลุ่มน้ำ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9E9074F5-3432-1030-BE2F-AD3AAAC9A71B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509118-7A2C-92FE-ABC5-1E173BE8DA5D}"/>
              </a:ext>
            </a:extLst>
          </p:cNvPr>
          <p:cNvGrpSpPr/>
          <p:nvPr/>
        </p:nvGrpSpPr>
        <p:grpSpPr>
          <a:xfrm>
            <a:off x="228797" y="1433380"/>
            <a:ext cx="2197031" cy="277701"/>
            <a:chOff x="201705" y="1219253"/>
            <a:chExt cx="2264507" cy="27770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1DC4747-1E33-6532-A197-65612F8E6CCD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Search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ACA8F79-CC9F-F912-BB28-91B802D23279}"/>
                </a:ext>
              </a:extLst>
            </p:cNvPr>
            <p:cNvSpPr/>
            <p:nvPr/>
          </p:nvSpPr>
          <p:spPr>
            <a:xfrm>
              <a:off x="887046" y="1222678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Download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F4CC493-214C-F830-73EC-3DD8167C5A7B}"/>
                </a:ext>
              </a:extLst>
            </p:cNvPr>
            <p:cNvSpPr/>
            <p:nvPr/>
          </p:nvSpPr>
          <p:spPr>
            <a:xfrm>
              <a:off x="1707402" y="1219253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Print Report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020952-FD16-D862-AEAC-F409C51AFEF4}"/>
              </a:ext>
            </a:extLst>
          </p:cNvPr>
          <p:cNvGrpSpPr/>
          <p:nvPr/>
        </p:nvGrpSpPr>
        <p:grpSpPr>
          <a:xfrm>
            <a:off x="152067" y="1017853"/>
            <a:ext cx="4366217" cy="256198"/>
            <a:chOff x="152067" y="645906"/>
            <a:chExt cx="4366217" cy="25619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8DC323-56DD-ED47-2CF5-22E929C8454E}"/>
                </a:ext>
              </a:extLst>
            </p:cNvPr>
            <p:cNvSpPr/>
            <p:nvPr/>
          </p:nvSpPr>
          <p:spPr>
            <a:xfrm>
              <a:off x="1211762" y="645906"/>
              <a:ext cx="3306522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Sensor + Snap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2D060B-DB6D-4264-C74E-8AECAB7AE9B0}"/>
                </a:ext>
              </a:extLst>
            </p:cNvPr>
            <p:cNvSpPr txBox="1"/>
            <p:nvPr/>
          </p:nvSpPr>
          <p:spPr>
            <a:xfrm>
              <a:off x="152067" y="655883"/>
              <a:ext cx="1186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ประเภท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FB9C8020-090C-B117-9F66-EBA4F4052813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3DE15C6-3C27-91FF-444C-14EF9D5E0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4" r="16621"/>
          <a:stretch>
            <a:fillRect/>
          </a:stretch>
        </p:blipFill>
        <p:spPr>
          <a:xfrm>
            <a:off x="3141234" y="2163313"/>
            <a:ext cx="2880000" cy="25188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DFD88E-691D-63B2-DF25-56BF84835B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4" r="16621"/>
          <a:stretch>
            <a:fillRect/>
          </a:stretch>
        </p:blipFill>
        <p:spPr>
          <a:xfrm>
            <a:off x="228797" y="2163313"/>
            <a:ext cx="2832358" cy="25188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6B0B934-3476-2E2E-7966-F6D4CD7BE5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4" r="16621"/>
          <a:stretch>
            <a:fillRect/>
          </a:stretch>
        </p:blipFill>
        <p:spPr>
          <a:xfrm>
            <a:off x="6136028" y="2163313"/>
            <a:ext cx="2832358" cy="25188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46A3FD3-DB1A-071A-7038-EEC427E8A2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4" r="16621"/>
          <a:stretch>
            <a:fillRect/>
          </a:stretch>
        </p:blipFill>
        <p:spPr>
          <a:xfrm>
            <a:off x="212784" y="5843604"/>
            <a:ext cx="2880000" cy="25188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9929BFE-F702-0CD0-49D5-31BF34B4A1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34" r="16621"/>
          <a:stretch>
            <a:fillRect/>
          </a:stretch>
        </p:blipFill>
        <p:spPr>
          <a:xfrm>
            <a:off x="3154162" y="5843604"/>
            <a:ext cx="2832358" cy="251884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C44996-BD7F-3D8F-B50B-B9709AC87393}"/>
              </a:ext>
            </a:extLst>
          </p:cNvPr>
          <p:cNvSpPr/>
          <p:nvPr/>
        </p:nvSpPr>
        <p:spPr>
          <a:xfrm>
            <a:off x="9234" y="-8875"/>
            <a:ext cx="9144000" cy="969244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1BA5B7-236A-825B-9239-ACC3A70F1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0" t="3710" r="1952" b="2661"/>
          <a:stretch>
            <a:fillRect/>
          </a:stretch>
        </p:blipFill>
        <p:spPr>
          <a:xfrm>
            <a:off x="348343" y="1645920"/>
            <a:ext cx="8527584" cy="481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8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807F6-EFF1-46A2-F82B-4CE32D35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7B12FB51-06B7-AA4A-5050-AEBC49C8F3CA}"/>
              </a:ext>
            </a:extLst>
          </p:cNvPr>
          <p:cNvSpPr/>
          <p:nvPr/>
        </p:nvSpPr>
        <p:spPr>
          <a:xfrm>
            <a:off x="106616" y="542629"/>
            <a:ext cx="8952931" cy="1010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D1EE5A-8CDD-6203-B634-A8F668FBD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0" r="16270"/>
          <a:stretch>
            <a:fillRect/>
          </a:stretch>
        </p:blipFill>
        <p:spPr>
          <a:xfrm>
            <a:off x="201703" y="2270869"/>
            <a:ext cx="2880000" cy="24014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BB90DC-C203-554B-CCFF-335339697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411"/>
          <a:stretch>
            <a:fillRect/>
          </a:stretch>
        </p:blipFill>
        <p:spPr>
          <a:xfrm>
            <a:off x="3143081" y="2269938"/>
            <a:ext cx="2880000" cy="2393479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B04D4B-4B88-6D01-7029-0DE5D15BE7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2" r="14209"/>
          <a:stretch>
            <a:fillRect/>
          </a:stretch>
        </p:blipFill>
        <p:spPr>
          <a:xfrm>
            <a:off x="6101314" y="2275894"/>
            <a:ext cx="2880000" cy="2401467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4CC2AED-D985-220D-091C-D6AB466960E6}"/>
              </a:ext>
            </a:extLst>
          </p:cNvPr>
          <p:cNvSpPr/>
          <p:nvPr/>
        </p:nvSpPr>
        <p:spPr>
          <a:xfrm>
            <a:off x="212784" y="4677175"/>
            <a:ext cx="2840983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TC.04 -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สะพานพุทธ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 ลุ่มน้ำเจ้าพระยา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36F90-76D3-44E7-38ED-F2B3902607F5}"/>
              </a:ext>
            </a:extLst>
          </p:cNvPr>
          <p:cNvSpPr/>
          <p:nvPr/>
        </p:nvSpPr>
        <p:spPr>
          <a:xfrm>
            <a:off x="3143081" y="465822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TC.12 -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กรมชลประทาน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AE087-CD17-E213-F028-1EB243B71C0F}"/>
              </a:ext>
            </a:extLst>
          </p:cNvPr>
          <p:cNvSpPr/>
          <p:nvPr/>
        </p:nvSpPr>
        <p:spPr>
          <a:xfrm>
            <a:off x="6112395" y="467035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TTC.01–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ปตร.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0B778F-03CD-5953-2623-A54E87827D93}"/>
              </a:ext>
            </a:extLst>
          </p:cNvPr>
          <p:cNvSpPr/>
          <p:nvPr/>
        </p:nvSpPr>
        <p:spPr>
          <a:xfrm>
            <a:off x="157522" y="1907652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ลุ่มน้ำเจ้าพระยา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67E9D9-69BC-AD9A-41C7-C388B81B620A}"/>
              </a:ext>
            </a:extLst>
          </p:cNvPr>
          <p:cNvSpPr/>
          <p:nvPr/>
        </p:nvSpPr>
        <p:spPr>
          <a:xfrm>
            <a:off x="177980" y="5505421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ลุ่มน้ำป่าสัก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48B480-54EB-7423-E279-37EF1A39FE22}"/>
              </a:ext>
            </a:extLst>
          </p:cNvPr>
          <p:cNvGrpSpPr/>
          <p:nvPr/>
        </p:nvGrpSpPr>
        <p:grpSpPr>
          <a:xfrm>
            <a:off x="201703" y="5918014"/>
            <a:ext cx="2880000" cy="3040854"/>
            <a:chOff x="201703" y="5501454"/>
            <a:chExt cx="2880000" cy="30408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EDB06E-66CB-B1F5-5EEB-CB4BD0DCC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7" r="20833"/>
            <a:stretch>
              <a:fillRect/>
            </a:stretch>
          </p:blipFill>
          <p:spPr>
            <a:xfrm>
              <a:off x="212784" y="5501454"/>
              <a:ext cx="2868919" cy="2401465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234E34-4865-4CE7-6EFA-61B53503747A}"/>
                </a:ext>
              </a:extLst>
            </p:cNvPr>
            <p:cNvSpPr/>
            <p:nvPr/>
          </p:nvSpPr>
          <p:spPr>
            <a:xfrm>
              <a:off x="201703" y="7916550"/>
              <a:ext cx="2880000" cy="625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TS.KB – </a:t>
              </a:r>
              <a:r>
                <a:rPr lang="th-TH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สถานีสูบน้ำ (1)</a:t>
              </a:r>
              <a:endParaRPr lang="en-US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th-TH" sz="12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15/06/2025 10:30 น.ลุ่มน้ำป่าสัก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49673E-0344-A014-35E5-5E1E5FBE80DA}"/>
              </a:ext>
            </a:extLst>
          </p:cNvPr>
          <p:cNvGrpSpPr/>
          <p:nvPr/>
        </p:nvGrpSpPr>
        <p:grpSpPr>
          <a:xfrm>
            <a:off x="3143081" y="5918014"/>
            <a:ext cx="2880000" cy="3040854"/>
            <a:chOff x="201703" y="5501454"/>
            <a:chExt cx="2880000" cy="304085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ADFAB8A-CA7B-38E1-4A98-89A25ACCF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7" r="20833"/>
            <a:stretch>
              <a:fillRect/>
            </a:stretch>
          </p:blipFill>
          <p:spPr>
            <a:xfrm>
              <a:off x="212784" y="5501454"/>
              <a:ext cx="2868919" cy="2401465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ED707EA-11B4-E31F-BB80-C540C7EAE8D2}"/>
                </a:ext>
              </a:extLst>
            </p:cNvPr>
            <p:cNvSpPr/>
            <p:nvPr/>
          </p:nvSpPr>
          <p:spPr>
            <a:xfrm>
              <a:off x="201703" y="7916550"/>
              <a:ext cx="2880000" cy="625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TS.KB – </a:t>
              </a:r>
              <a:r>
                <a:rPr lang="th-TH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สถานีสูบน้ำ (2)</a:t>
              </a:r>
              <a:endParaRPr lang="en-US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th-TH" sz="12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15/06/2025 10:30 น.ลุ่มน้ำป่าสัก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4FFF4CD-57A9-72CB-C7B5-57FF3BBD0620}"/>
              </a:ext>
            </a:extLst>
          </p:cNvPr>
          <p:cNvGrpSpPr/>
          <p:nvPr/>
        </p:nvGrpSpPr>
        <p:grpSpPr>
          <a:xfrm>
            <a:off x="179363" y="645906"/>
            <a:ext cx="4338921" cy="256198"/>
            <a:chOff x="179363" y="645906"/>
            <a:chExt cx="4338921" cy="2561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B99356-3F68-580A-619B-DFEB4FE3A870}"/>
                </a:ext>
              </a:extLst>
            </p:cNvPr>
            <p:cNvSpPr/>
            <p:nvPr/>
          </p:nvSpPr>
          <p:spPr>
            <a:xfrm>
              <a:off x="1211761" y="645906"/>
              <a:ext cx="3306523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CDBFEF8-3FDC-3977-6F62-6DE6E038C1FF}"/>
                </a:ext>
              </a:extLst>
            </p:cNvPr>
            <p:cNvSpPr txBox="1"/>
            <p:nvPr/>
          </p:nvSpPr>
          <p:spPr>
            <a:xfrm>
              <a:off x="179363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โครงการ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96E6316E-4EBF-B65C-A2E7-C7275B0FD3D4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6F7193-891C-ADE8-4367-52E2134B8FF0}"/>
              </a:ext>
            </a:extLst>
          </p:cNvPr>
          <p:cNvGrpSpPr/>
          <p:nvPr/>
        </p:nvGrpSpPr>
        <p:grpSpPr>
          <a:xfrm>
            <a:off x="4652614" y="647315"/>
            <a:ext cx="4223312" cy="256198"/>
            <a:chOff x="647944" y="645906"/>
            <a:chExt cx="3320806" cy="25619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965D105-926E-6345-DDCB-93B89AC62B5E}"/>
                </a:ext>
              </a:extLst>
            </p:cNvPr>
            <p:cNvSpPr/>
            <p:nvPr/>
          </p:nvSpPr>
          <p:spPr>
            <a:xfrm>
              <a:off x="1394769" y="645906"/>
              <a:ext cx="2573981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45B03D-6D60-F9D2-1612-90082DBF3F70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ลุ่มน้ำ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6FD6691F-6F2C-2499-BC40-90B8242F13EA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5D8925-44BC-24C0-9327-692DB42DDE74}"/>
              </a:ext>
            </a:extLst>
          </p:cNvPr>
          <p:cNvSpPr/>
          <p:nvPr/>
        </p:nvSpPr>
        <p:spPr>
          <a:xfrm>
            <a:off x="228797" y="1436805"/>
            <a:ext cx="605208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Search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CBDB0D5-B495-3FB8-644C-2F1149022DCF}"/>
              </a:ext>
            </a:extLst>
          </p:cNvPr>
          <p:cNvGrpSpPr/>
          <p:nvPr/>
        </p:nvGrpSpPr>
        <p:grpSpPr>
          <a:xfrm>
            <a:off x="152067" y="1017853"/>
            <a:ext cx="4366217" cy="256198"/>
            <a:chOff x="152067" y="645906"/>
            <a:chExt cx="4366217" cy="25619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286D5A-2CE8-E306-5E50-D8353B0D67E5}"/>
                </a:ext>
              </a:extLst>
            </p:cNvPr>
            <p:cNvSpPr/>
            <p:nvPr/>
          </p:nvSpPr>
          <p:spPr>
            <a:xfrm>
              <a:off x="1211762" y="645906"/>
              <a:ext cx="3306522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GB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 – Snap</a:t>
              </a:r>
              <a:endParaRPr lang="th-TH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DB1A57-ADF7-7D62-8210-A0CEF00D7346}"/>
                </a:ext>
              </a:extLst>
            </p:cNvPr>
            <p:cNvSpPr txBox="1"/>
            <p:nvPr/>
          </p:nvSpPr>
          <p:spPr>
            <a:xfrm>
              <a:off x="152067" y="655883"/>
              <a:ext cx="1186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ประเภท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D9E93645-CC51-C80E-27C5-30522C0A2D1A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F393FAB-8A0E-9AD0-16B9-6A0C9B2DB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460307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1F028062-0A73-E781-0B1A-1BF8390220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395CA1A-166C-D862-2038-CFB83BF56C1D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03D903B-4029-FBCD-8A3C-BD9EE8B8B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B1DD9129-F693-808E-C1AA-86FC7B2D1FC6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39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62F07-7EBF-101E-EA16-E8108664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F2D647B-95BC-EE36-6342-0A431557F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751864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Map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6" name="Picture 35">
            <a:extLst>
              <a:ext uri="{FF2B5EF4-FFF2-40B4-BE49-F238E27FC236}">
                <a16:creationId xmlns:a16="http://schemas.microsoft.com/office/drawing/2014/main" id="{5698AEF4-CF0F-092C-0206-708ECE6EA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54EB7E97-F631-0F77-7082-7B7E7B8859C4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88479E3-8932-E2E2-6914-8DB0102EE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5B8385DF-B2BA-5D57-67E4-D09FA9439C0D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D66F60E4-C7A4-221E-A72C-C00FFE8938C7}"/>
              </a:ext>
            </a:extLst>
          </p:cNvPr>
          <p:cNvSpPr/>
          <p:nvPr/>
        </p:nvSpPr>
        <p:spPr>
          <a:xfrm>
            <a:off x="106616" y="542629"/>
            <a:ext cx="8952931" cy="1010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B95B8-FA83-BA1D-ECB3-5BCD9F88AF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0" r="16270"/>
          <a:stretch>
            <a:fillRect/>
          </a:stretch>
        </p:blipFill>
        <p:spPr>
          <a:xfrm>
            <a:off x="201703" y="2270869"/>
            <a:ext cx="2880000" cy="24014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D98268-2009-51BF-5828-32FC89F20A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411"/>
          <a:stretch>
            <a:fillRect/>
          </a:stretch>
        </p:blipFill>
        <p:spPr>
          <a:xfrm>
            <a:off x="3143081" y="2269938"/>
            <a:ext cx="2880000" cy="2393479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3258390-466B-F7D7-B779-333865DA53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2" r="14209"/>
          <a:stretch>
            <a:fillRect/>
          </a:stretch>
        </p:blipFill>
        <p:spPr>
          <a:xfrm>
            <a:off x="6101314" y="2275894"/>
            <a:ext cx="2880000" cy="2401467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4458077B-DFBF-BC68-E807-241DE916EE85}"/>
              </a:ext>
            </a:extLst>
          </p:cNvPr>
          <p:cNvSpPr/>
          <p:nvPr/>
        </p:nvSpPr>
        <p:spPr>
          <a:xfrm>
            <a:off x="212784" y="4677175"/>
            <a:ext cx="2840983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TC.04 -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สะพานพุทธ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 ลุ่มน้ำเจ้าพระยา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15ECD-4EB5-63D6-7677-2BF3626BA04C}"/>
              </a:ext>
            </a:extLst>
          </p:cNvPr>
          <p:cNvSpPr/>
          <p:nvPr/>
        </p:nvSpPr>
        <p:spPr>
          <a:xfrm>
            <a:off x="3143081" y="465822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TC.12 -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กรมชลประทาน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D2C04-0ACE-004E-2E1F-F32BFCD7AF5A}"/>
              </a:ext>
            </a:extLst>
          </p:cNvPr>
          <p:cNvSpPr/>
          <p:nvPr/>
        </p:nvSpPr>
        <p:spPr>
          <a:xfrm>
            <a:off x="6112395" y="4670359"/>
            <a:ext cx="2880000" cy="62575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TTC.01– </a:t>
            </a:r>
            <a:r>
              <a:rPr lang="th-TH" sz="1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ปตร.</a:t>
            </a:r>
            <a:endParaRPr lang="en-US" sz="1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15/06/2025 10:30 น.ลุ่มน้ำเจ้าพระยา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142BC5-78CB-EAF4-D644-2D6A2FCF132B}"/>
              </a:ext>
            </a:extLst>
          </p:cNvPr>
          <p:cNvSpPr/>
          <p:nvPr/>
        </p:nvSpPr>
        <p:spPr>
          <a:xfrm>
            <a:off x="157522" y="1907652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ลุ่มน้ำเจ้าพระยา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44025B-3730-977E-E865-E09893B2F34C}"/>
              </a:ext>
            </a:extLst>
          </p:cNvPr>
          <p:cNvSpPr/>
          <p:nvPr/>
        </p:nvSpPr>
        <p:spPr>
          <a:xfrm>
            <a:off x="177980" y="5505421"/>
            <a:ext cx="1244558" cy="274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ลุ่มน้ำป่าสัก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557081-B3EE-5DBC-09D2-9240F26FFBDC}"/>
              </a:ext>
            </a:extLst>
          </p:cNvPr>
          <p:cNvGrpSpPr/>
          <p:nvPr/>
        </p:nvGrpSpPr>
        <p:grpSpPr>
          <a:xfrm>
            <a:off x="201703" y="5918014"/>
            <a:ext cx="2880000" cy="3040854"/>
            <a:chOff x="201703" y="5501454"/>
            <a:chExt cx="2880000" cy="30408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E7373E-9284-F7BD-A135-95B634078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7" r="20833"/>
            <a:stretch>
              <a:fillRect/>
            </a:stretch>
          </p:blipFill>
          <p:spPr>
            <a:xfrm>
              <a:off x="212784" y="5501454"/>
              <a:ext cx="2868919" cy="2401465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0ECCB1-1C3B-23E2-BD8C-485987B68340}"/>
                </a:ext>
              </a:extLst>
            </p:cNvPr>
            <p:cNvSpPr/>
            <p:nvPr/>
          </p:nvSpPr>
          <p:spPr>
            <a:xfrm>
              <a:off x="201703" y="7916550"/>
              <a:ext cx="2880000" cy="625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TS.KB – </a:t>
              </a:r>
              <a:r>
                <a:rPr lang="th-TH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สถานีสูบน้ำ (1)</a:t>
              </a:r>
              <a:endParaRPr lang="en-US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th-TH" sz="12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15/06/2025 10:30 น.ลุ่มน้ำป่าสัก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EA8A2C-BEF2-717A-14E8-C2875A45CCD1}"/>
              </a:ext>
            </a:extLst>
          </p:cNvPr>
          <p:cNvGrpSpPr/>
          <p:nvPr/>
        </p:nvGrpSpPr>
        <p:grpSpPr>
          <a:xfrm>
            <a:off x="3143081" y="5918014"/>
            <a:ext cx="2880000" cy="3040854"/>
            <a:chOff x="201703" y="5501454"/>
            <a:chExt cx="2880000" cy="304085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633D148-A38B-EDE9-1FFB-92CFC2553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7" r="20833"/>
            <a:stretch>
              <a:fillRect/>
            </a:stretch>
          </p:blipFill>
          <p:spPr>
            <a:xfrm>
              <a:off x="212784" y="5501454"/>
              <a:ext cx="2868919" cy="2401465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E303DAB-22ED-F347-C0D0-276B017C3B1C}"/>
                </a:ext>
              </a:extLst>
            </p:cNvPr>
            <p:cNvSpPr/>
            <p:nvPr/>
          </p:nvSpPr>
          <p:spPr>
            <a:xfrm>
              <a:off x="201703" y="7916550"/>
              <a:ext cx="2880000" cy="625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TS.KB – </a:t>
              </a:r>
              <a:r>
                <a:rPr lang="th-TH" sz="1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สถานีสูบน้ำ (2)</a:t>
              </a:r>
              <a:endParaRPr lang="en-US" sz="1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th-TH" sz="12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15/06/2025 10:30 น.ลุ่มน้ำป่าสัก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206421-732E-EC9F-CB31-DDC303059593}"/>
              </a:ext>
            </a:extLst>
          </p:cNvPr>
          <p:cNvGrpSpPr/>
          <p:nvPr/>
        </p:nvGrpSpPr>
        <p:grpSpPr>
          <a:xfrm>
            <a:off x="179363" y="645906"/>
            <a:ext cx="4338921" cy="256198"/>
            <a:chOff x="179363" y="645906"/>
            <a:chExt cx="4338921" cy="2561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EF7E1CD-4C78-F3C6-E9C0-3B44D8E8AD31}"/>
                </a:ext>
              </a:extLst>
            </p:cNvPr>
            <p:cNvSpPr/>
            <p:nvPr/>
          </p:nvSpPr>
          <p:spPr>
            <a:xfrm>
              <a:off x="1211761" y="645906"/>
              <a:ext cx="3306523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D26A5F-532A-7F5C-FE4D-F1CE4071E320}"/>
                </a:ext>
              </a:extLst>
            </p:cNvPr>
            <p:cNvSpPr txBox="1"/>
            <p:nvPr/>
          </p:nvSpPr>
          <p:spPr>
            <a:xfrm>
              <a:off x="179363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โครงการ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A0E36FF6-2D6C-CF63-B552-195E239D58C4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DEF919-50FE-628F-D000-66505BB9601D}"/>
              </a:ext>
            </a:extLst>
          </p:cNvPr>
          <p:cNvGrpSpPr/>
          <p:nvPr/>
        </p:nvGrpSpPr>
        <p:grpSpPr>
          <a:xfrm>
            <a:off x="4652614" y="647315"/>
            <a:ext cx="4223312" cy="256198"/>
            <a:chOff x="647944" y="645906"/>
            <a:chExt cx="3320806" cy="25619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D7E0DA2-25A4-E444-50FD-0547193543D7}"/>
                </a:ext>
              </a:extLst>
            </p:cNvPr>
            <p:cNvSpPr/>
            <p:nvPr/>
          </p:nvSpPr>
          <p:spPr>
            <a:xfrm>
              <a:off x="1394769" y="645906"/>
              <a:ext cx="2573981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94FD8D-5FF7-A94D-0BEE-6F1F2E13D65F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ลุ่มน้ำ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7991FF42-FA24-6F4F-343E-8AFE5709D004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E6070F-1157-FE47-F261-4449F3A43FE1}"/>
              </a:ext>
            </a:extLst>
          </p:cNvPr>
          <p:cNvSpPr/>
          <p:nvPr/>
        </p:nvSpPr>
        <p:spPr>
          <a:xfrm>
            <a:off x="228797" y="1436805"/>
            <a:ext cx="605208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Search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91D5F1-BC77-6F5E-50A1-15BFC13E9D35}"/>
              </a:ext>
            </a:extLst>
          </p:cNvPr>
          <p:cNvGrpSpPr/>
          <p:nvPr/>
        </p:nvGrpSpPr>
        <p:grpSpPr>
          <a:xfrm>
            <a:off x="152067" y="1017853"/>
            <a:ext cx="4366217" cy="256198"/>
            <a:chOff x="152067" y="645906"/>
            <a:chExt cx="4366217" cy="25619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7AC1AA0-A6EB-37A3-A142-253BB727FF0F}"/>
                </a:ext>
              </a:extLst>
            </p:cNvPr>
            <p:cNvSpPr/>
            <p:nvPr/>
          </p:nvSpPr>
          <p:spPr>
            <a:xfrm>
              <a:off x="1211762" y="645906"/>
              <a:ext cx="3306522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GB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 – Snap</a:t>
              </a:r>
              <a:endParaRPr lang="th-TH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F5C812-B4CA-296C-6BA7-3C6EA6AC0970}"/>
                </a:ext>
              </a:extLst>
            </p:cNvPr>
            <p:cNvSpPr txBox="1"/>
            <p:nvPr/>
          </p:nvSpPr>
          <p:spPr>
            <a:xfrm>
              <a:off x="152067" y="655883"/>
              <a:ext cx="1186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ประเภท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12B16D5F-8FD7-4216-FA1C-B0641C42971D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B168939-4328-2748-F03C-59F9B7444C7E}"/>
              </a:ext>
            </a:extLst>
          </p:cNvPr>
          <p:cNvSpPr/>
          <p:nvPr/>
        </p:nvSpPr>
        <p:spPr>
          <a:xfrm>
            <a:off x="0" y="-10127"/>
            <a:ext cx="9144000" cy="969244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71374F-81AC-9506-D4C0-3A4EB391BA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797" y="1596901"/>
            <a:ext cx="8647129" cy="5126116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80114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7C92D-2328-D5F4-FFDA-45A2F79C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6">
            <a:extLst>
              <a:ext uri="{FF2B5EF4-FFF2-40B4-BE49-F238E27FC236}">
                <a16:creationId xmlns:a16="http://schemas.microsoft.com/office/drawing/2014/main" id="{E6BCBCAB-3CDA-2234-4380-6D73F67937D2}"/>
              </a:ext>
            </a:extLst>
          </p:cNvPr>
          <p:cNvSpPr/>
          <p:nvPr/>
        </p:nvSpPr>
        <p:spPr>
          <a:xfrm>
            <a:off x="106616" y="542629"/>
            <a:ext cx="8952931" cy="2271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A8B1BD-4D10-6404-680C-40651D105844}"/>
              </a:ext>
            </a:extLst>
          </p:cNvPr>
          <p:cNvGrpSpPr/>
          <p:nvPr/>
        </p:nvGrpSpPr>
        <p:grpSpPr>
          <a:xfrm>
            <a:off x="541149" y="6825877"/>
            <a:ext cx="8296864" cy="2861232"/>
            <a:chOff x="541148" y="4182547"/>
            <a:chExt cx="8296864" cy="28612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77E6B1-121D-736C-093A-7A62CB91A92A}"/>
                </a:ext>
              </a:extLst>
            </p:cNvPr>
            <p:cNvSpPr/>
            <p:nvPr/>
          </p:nvSpPr>
          <p:spPr>
            <a:xfrm>
              <a:off x="549313" y="4182547"/>
              <a:ext cx="8288699" cy="843214"/>
            </a:xfrm>
            <a:prstGeom prst="rect">
              <a:avLst/>
            </a:prstGeom>
            <a:solidFill>
              <a:srgbClr val="219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D1CAB4-0561-6B2A-21C4-F87947661220}"/>
                </a:ext>
              </a:extLst>
            </p:cNvPr>
            <p:cNvSpPr/>
            <p:nvPr/>
          </p:nvSpPr>
          <p:spPr>
            <a:xfrm flipV="1">
              <a:off x="541148" y="4614704"/>
              <a:ext cx="8288699" cy="190944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7303B5-845D-2CED-0AB5-9E2D799920E3}"/>
                </a:ext>
              </a:extLst>
            </p:cNvPr>
            <p:cNvSpPr txBox="1"/>
            <p:nvPr/>
          </p:nvSpPr>
          <p:spPr>
            <a:xfrm>
              <a:off x="653102" y="4248492"/>
              <a:ext cx="46715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Measurement Value - </a:t>
              </a:r>
              <a:r>
                <a:rPr lang="th-TH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ข้อมูลตรวจวัด</a:t>
              </a:r>
              <a:r>
                <a:rPr lang="en-US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  <p:sp>
          <p:nvSpPr>
            <p:cNvPr id="23" name="Rectangle: Rounded Corners 46">
              <a:extLst>
                <a:ext uri="{FF2B5EF4-FFF2-40B4-BE49-F238E27FC236}">
                  <a16:creationId xmlns:a16="http://schemas.microsoft.com/office/drawing/2014/main" id="{259473CB-3271-1F9A-9FFB-0FA4AD17EC36}"/>
                </a:ext>
              </a:extLst>
            </p:cNvPr>
            <p:cNvSpPr/>
            <p:nvPr/>
          </p:nvSpPr>
          <p:spPr>
            <a:xfrm>
              <a:off x="567038" y="4621770"/>
              <a:ext cx="4857290" cy="2422009"/>
            </a:xfrm>
            <a:custGeom>
              <a:avLst/>
              <a:gdLst>
                <a:gd name="connsiteX0" fmla="*/ 0 w 8303685"/>
                <a:gd name="connsiteY0" fmla="*/ 211948 h 2096626"/>
                <a:gd name="connsiteX1" fmla="*/ 211948 w 8303685"/>
                <a:gd name="connsiteY1" fmla="*/ 0 h 2096626"/>
                <a:gd name="connsiteX2" fmla="*/ 8091737 w 8303685"/>
                <a:gd name="connsiteY2" fmla="*/ 0 h 2096626"/>
                <a:gd name="connsiteX3" fmla="*/ 8303685 w 8303685"/>
                <a:gd name="connsiteY3" fmla="*/ 211948 h 2096626"/>
                <a:gd name="connsiteX4" fmla="*/ 8303685 w 8303685"/>
                <a:gd name="connsiteY4" fmla="*/ 1884678 h 2096626"/>
                <a:gd name="connsiteX5" fmla="*/ 8091737 w 8303685"/>
                <a:gd name="connsiteY5" fmla="*/ 2096626 h 2096626"/>
                <a:gd name="connsiteX6" fmla="*/ 211948 w 8303685"/>
                <a:gd name="connsiteY6" fmla="*/ 2096626 h 2096626"/>
                <a:gd name="connsiteX7" fmla="*/ 0 w 8303685"/>
                <a:gd name="connsiteY7" fmla="*/ 1884678 h 2096626"/>
                <a:gd name="connsiteX8" fmla="*/ 0 w 8303685"/>
                <a:gd name="connsiteY8" fmla="*/ 211948 h 2096626"/>
                <a:gd name="connsiteX0" fmla="*/ 0 w 8303685"/>
                <a:gd name="connsiteY0" fmla="*/ 251004 h 2135682"/>
                <a:gd name="connsiteX1" fmla="*/ 211948 w 8303685"/>
                <a:gd name="connsiteY1" fmla="*/ 39056 h 2135682"/>
                <a:gd name="connsiteX2" fmla="*/ 8091737 w 8303685"/>
                <a:gd name="connsiteY2" fmla="*/ 39056 h 2135682"/>
                <a:gd name="connsiteX3" fmla="*/ 8303685 w 8303685"/>
                <a:gd name="connsiteY3" fmla="*/ 251004 h 2135682"/>
                <a:gd name="connsiteX4" fmla="*/ 8303685 w 8303685"/>
                <a:gd name="connsiteY4" fmla="*/ 1923734 h 2135682"/>
                <a:gd name="connsiteX5" fmla="*/ 8091737 w 8303685"/>
                <a:gd name="connsiteY5" fmla="*/ 2135682 h 2135682"/>
                <a:gd name="connsiteX6" fmla="*/ 211948 w 8303685"/>
                <a:gd name="connsiteY6" fmla="*/ 2135682 h 2135682"/>
                <a:gd name="connsiteX7" fmla="*/ 0 w 8303685"/>
                <a:gd name="connsiteY7" fmla="*/ 1923734 h 2135682"/>
                <a:gd name="connsiteX8" fmla="*/ 0 w 8303685"/>
                <a:gd name="connsiteY8" fmla="*/ 251004 h 213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03685" h="2135682">
                  <a:moveTo>
                    <a:pt x="0" y="251004"/>
                  </a:moveTo>
                  <a:cubicBezTo>
                    <a:pt x="0" y="133948"/>
                    <a:pt x="110132" y="-90484"/>
                    <a:pt x="211948" y="39056"/>
                  </a:cubicBezTo>
                  <a:lnTo>
                    <a:pt x="8091737" y="39056"/>
                  </a:lnTo>
                  <a:cubicBezTo>
                    <a:pt x="8208793" y="39056"/>
                    <a:pt x="8303685" y="133948"/>
                    <a:pt x="8303685" y="251004"/>
                  </a:cubicBezTo>
                  <a:lnTo>
                    <a:pt x="8303685" y="1923734"/>
                  </a:lnTo>
                  <a:cubicBezTo>
                    <a:pt x="8303685" y="2040790"/>
                    <a:pt x="8208793" y="2135682"/>
                    <a:pt x="8091737" y="2135682"/>
                  </a:cubicBezTo>
                  <a:lnTo>
                    <a:pt x="211948" y="2135682"/>
                  </a:lnTo>
                  <a:cubicBezTo>
                    <a:pt x="94892" y="2135682"/>
                    <a:pt x="0" y="2040790"/>
                    <a:pt x="0" y="1923734"/>
                  </a:cubicBezTo>
                  <a:lnTo>
                    <a:pt x="0" y="25100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</a:t>
              </a: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 Rate	             </a:t>
              </a: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Flow Velocity</a:t>
              </a:r>
            </a:p>
            <a:p>
              <a:pPr algn="l">
                <a:buNone/>
              </a:pP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RAIN_ACC1 -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ฝนสะสม 1 วัน (07:00 08/10/2025 - 07:00 09/10/2025)</a:t>
              </a:r>
            </a:p>
            <a:p>
              <a:pPr algn="l">
                <a:buNone/>
              </a:pP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RAIN_ACC2 -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ฝนสะสม 2 วัน (07:00 07/10/2025 - 07:00 09/10/2025)</a:t>
              </a:r>
            </a:p>
            <a:p>
              <a:pPr algn="l">
                <a:buNone/>
              </a:pP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ฝนสะสม 3 วัน (07:00 06/10/2025 - 07:00 09/10/2025)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Latest Rainfall    </a:t>
              </a: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Last Update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F6E41B4-6EEE-642B-0E78-54417FDE723D}"/>
                </a:ext>
              </a:extLst>
            </p:cNvPr>
            <p:cNvSpPr/>
            <p:nvPr/>
          </p:nvSpPr>
          <p:spPr>
            <a:xfrm>
              <a:off x="5413601" y="4592399"/>
              <a:ext cx="3405521" cy="2422009"/>
            </a:xfrm>
            <a:prstGeom prst="roundRect">
              <a:avLst>
                <a:gd name="adj" fmla="val 683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58.55 </a:t>
              </a:r>
              <a:r>
                <a:rPr lang="en-US" sz="1400" i="0" dirty="0" err="1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m.MSL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r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0.00  m3/s</a:t>
              </a:r>
            </a:p>
            <a:p>
              <a:pPr algn="r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0.00  m/s</a:t>
              </a:r>
            </a:p>
            <a:p>
              <a:pPr algn="r">
                <a:buNone/>
              </a:pP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27.00 มม.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r">
                <a:buNone/>
              </a:pP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27.00 มม.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r">
                <a:buNone/>
              </a:pP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27.00 มม.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r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20/11/2024 05:30</a:t>
              </a:r>
            </a:p>
            <a:p>
              <a:pPr algn="r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29/11/2024 01:23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87842711-1768-37EA-33C9-056F98603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22" y="1515499"/>
            <a:ext cx="2616211" cy="24014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A5ACAA-B11C-D079-70F5-451B17708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313" y="3300946"/>
            <a:ext cx="2546323" cy="2056468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31515663-F168-D9F8-0148-B0A62984C4B9}"/>
              </a:ext>
            </a:extLst>
          </p:cNvPr>
          <p:cNvGrpSpPr/>
          <p:nvPr/>
        </p:nvGrpSpPr>
        <p:grpSpPr>
          <a:xfrm>
            <a:off x="608329" y="16148231"/>
            <a:ext cx="8210793" cy="3477436"/>
            <a:chOff x="541148" y="4182547"/>
            <a:chExt cx="8296864" cy="234274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4ABA38F-F56D-54F5-2B0C-116EC4DD1AEF}"/>
                </a:ext>
              </a:extLst>
            </p:cNvPr>
            <p:cNvSpPr/>
            <p:nvPr/>
          </p:nvSpPr>
          <p:spPr>
            <a:xfrm>
              <a:off x="549313" y="4182547"/>
              <a:ext cx="8288699" cy="259091"/>
            </a:xfrm>
            <a:prstGeom prst="rect">
              <a:avLst/>
            </a:prstGeom>
            <a:solidFill>
              <a:srgbClr val="2196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58C0172-D4D2-7251-5C7E-754DCF79070A}"/>
                </a:ext>
              </a:extLst>
            </p:cNvPr>
            <p:cNvSpPr/>
            <p:nvPr/>
          </p:nvSpPr>
          <p:spPr>
            <a:xfrm flipV="1">
              <a:off x="541148" y="4450799"/>
              <a:ext cx="8288699" cy="20744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4F23A2D-6E5A-47C9-ABD1-978A844D84A8}"/>
                </a:ext>
              </a:extLst>
            </p:cNvPr>
            <p:cNvSpPr txBox="1"/>
            <p:nvPr/>
          </p:nvSpPr>
          <p:spPr>
            <a:xfrm>
              <a:off x="716600" y="4222716"/>
              <a:ext cx="4671585" cy="2280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Specifications - </a:t>
              </a:r>
              <a:r>
                <a:rPr lang="th-TH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ข้อมูลท้องน้ำของสถานี</a:t>
              </a:r>
              <a:endParaRPr lang="en-US" sz="1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Rectangle: Rounded Corners 46">
              <a:extLst>
                <a:ext uri="{FF2B5EF4-FFF2-40B4-BE49-F238E27FC236}">
                  <a16:creationId xmlns:a16="http://schemas.microsoft.com/office/drawing/2014/main" id="{AE7B6D59-6CB9-2027-73AB-2CD69CF789A2}"/>
                </a:ext>
              </a:extLst>
            </p:cNvPr>
            <p:cNvSpPr/>
            <p:nvPr/>
          </p:nvSpPr>
          <p:spPr>
            <a:xfrm>
              <a:off x="549313" y="4510996"/>
              <a:ext cx="4904623" cy="1988418"/>
            </a:xfrm>
            <a:custGeom>
              <a:avLst/>
              <a:gdLst>
                <a:gd name="connsiteX0" fmla="*/ 0 w 8303685"/>
                <a:gd name="connsiteY0" fmla="*/ 211948 h 2096626"/>
                <a:gd name="connsiteX1" fmla="*/ 211948 w 8303685"/>
                <a:gd name="connsiteY1" fmla="*/ 0 h 2096626"/>
                <a:gd name="connsiteX2" fmla="*/ 8091737 w 8303685"/>
                <a:gd name="connsiteY2" fmla="*/ 0 h 2096626"/>
                <a:gd name="connsiteX3" fmla="*/ 8303685 w 8303685"/>
                <a:gd name="connsiteY3" fmla="*/ 211948 h 2096626"/>
                <a:gd name="connsiteX4" fmla="*/ 8303685 w 8303685"/>
                <a:gd name="connsiteY4" fmla="*/ 1884678 h 2096626"/>
                <a:gd name="connsiteX5" fmla="*/ 8091737 w 8303685"/>
                <a:gd name="connsiteY5" fmla="*/ 2096626 h 2096626"/>
                <a:gd name="connsiteX6" fmla="*/ 211948 w 8303685"/>
                <a:gd name="connsiteY6" fmla="*/ 2096626 h 2096626"/>
                <a:gd name="connsiteX7" fmla="*/ 0 w 8303685"/>
                <a:gd name="connsiteY7" fmla="*/ 1884678 h 2096626"/>
                <a:gd name="connsiteX8" fmla="*/ 0 w 8303685"/>
                <a:gd name="connsiteY8" fmla="*/ 211948 h 2096626"/>
                <a:gd name="connsiteX0" fmla="*/ 0 w 8303685"/>
                <a:gd name="connsiteY0" fmla="*/ 251004 h 2135682"/>
                <a:gd name="connsiteX1" fmla="*/ 211948 w 8303685"/>
                <a:gd name="connsiteY1" fmla="*/ 39056 h 2135682"/>
                <a:gd name="connsiteX2" fmla="*/ 8091737 w 8303685"/>
                <a:gd name="connsiteY2" fmla="*/ 39056 h 2135682"/>
                <a:gd name="connsiteX3" fmla="*/ 8303685 w 8303685"/>
                <a:gd name="connsiteY3" fmla="*/ 251004 h 2135682"/>
                <a:gd name="connsiteX4" fmla="*/ 8303685 w 8303685"/>
                <a:gd name="connsiteY4" fmla="*/ 1923734 h 2135682"/>
                <a:gd name="connsiteX5" fmla="*/ 8091737 w 8303685"/>
                <a:gd name="connsiteY5" fmla="*/ 2135682 h 2135682"/>
                <a:gd name="connsiteX6" fmla="*/ 211948 w 8303685"/>
                <a:gd name="connsiteY6" fmla="*/ 2135682 h 2135682"/>
                <a:gd name="connsiteX7" fmla="*/ 0 w 8303685"/>
                <a:gd name="connsiteY7" fmla="*/ 1923734 h 2135682"/>
                <a:gd name="connsiteX8" fmla="*/ 0 w 8303685"/>
                <a:gd name="connsiteY8" fmla="*/ 251004 h 213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03685" h="2135682">
                  <a:moveTo>
                    <a:pt x="0" y="251004"/>
                  </a:moveTo>
                  <a:cubicBezTo>
                    <a:pt x="0" y="133948"/>
                    <a:pt x="110132" y="-90484"/>
                    <a:pt x="211948" y="39056"/>
                  </a:cubicBezTo>
                  <a:lnTo>
                    <a:pt x="8091737" y="39056"/>
                  </a:lnTo>
                  <a:cubicBezTo>
                    <a:pt x="8208793" y="39056"/>
                    <a:pt x="8303685" y="133948"/>
                    <a:pt x="8303685" y="251004"/>
                  </a:cubicBezTo>
                  <a:lnTo>
                    <a:pt x="8303685" y="1923734"/>
                  </a:lnTo>
                  <a:cubicBezTo>
                    <a:pt x="8303685" y="2040790"/>
                    <a:pt x="8208793" y="2135682"/>
                    <a:pt x="8091737" y="2135682"/>
                  </a:cubicBezTo>
                  <a:lnTo>
                    <a:pt x="211948" y="2135682"/>
                  </a:lnTo>
                  <a:cubicBezTo>
                    <a:pt x="94892" y="2135682"/>
                    <a:pt x="0" y="2040790"/>
                    <a:pt x="0" y="1923734"/>
                  </a:cubicBezTo>
                  <a:lnTo>
                    <a:pt x="0" y="25100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ข้อมูลท้องน้ำจุดที่ 1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l">
                <a:buNone/>
              </a:pP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LEFT_BANK_WL_UP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– ระดับตลิ่งซ้าย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: 3.44 </a:t>
              </a:r>
              <a:r>
                <a:rPr lang="en-US" sz="1400" dirty="0" err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m.MSL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RIGHT_BANK_WL_UP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–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: 3.39 </a:t>
              </a:r>
              <a:r>
                <a:rPr lang="en-US" sz="1400" dirty="0" err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m.MSL</a:t>
              </a:r>
              <a:b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</a:b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ZEROGATE_UP -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 : 206.50 ม.รทก , - ม.รสม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WARNING_UP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–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: 2.39 </a:t>
              </a:r>
              <a:r>
                <a:rPr lang="en-US" sz="1400" dirty="0" err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m.MSL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CRITICAL_UP –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: 3.39 </a:t>
              </a:r>
              <a:r>
                <a:rPr lang="en-US" sz="1400" dirty="0" err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m.MSL</a:t>
              </a:r>
              <a:endParaRPr lang="th-TH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b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</a:b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ข้อมูลท้องน้ำจุดที่ 2</a:t>
              </a:r>
              <a:b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</a:b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LEFT_BANK_WL_DOWN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ระดับตลิ่งซ้าย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RIGHT_BANK_WL_DOWN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– ระดับตลิ่งขวา</a:t>
              </a:r>
              <a:b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</a:b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ZEROGATE_DOWN -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 : 206.50 ม.รทก , - ม.รสม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WARNING_DOWN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ระดับน้ำเตือนภัย</a:t>
              </a:r>
              <a:endParaRPr lang="en-US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CRITICAL_DOWN –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</a:t>
              </a:r>
            </a:p>
            <a:p>
              <a:endParaRPr lang="th-TH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9D431C-267A-53F3-797D-2EEC81FE3311}"/>
              </a:ext>
            </a:extLst>
          </p:cNvPr>
          <p:cNvGrpSpPr/>
          <p:nvPr/>
        </p:nvGrpSpPr>
        <p:grpSpPr>
          <a:xfrm>
            <a:off x="589551" y="13480749"/>
            <a:ext cx="8299313" cy="2266052"/>
            <a:chOff x="370476" y="10714105"/>
            <a:chExt cx="8299313" cy="22660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114A0-FE1F-1763-0740-0D4394A6BBAD}"/>
                </a:ext>
              </a:extLst>
            </p:cNvPr>
            <p:cNvSpPr/>
            <p:nvPr/>
          </p:nvSpPr>
          <p:spPr>
            <a:xfrm>
              <a:off x="370476" y="10714105"/>
              <a:ext cx="8288698" cy="441795"/>
            </a:xfrm>
            <a:prstGeom prst="rect">
              <a:avLst/>
            </a:prstGeom>
            <a:solidFill>
              <a:srgbClr val="2196F3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04CBFF6-356D-24D2-3E7E-C5A418C40293}"/>
                </a:ext>
              </a:extLst>
            </p:cNvPr>
            <p:cNvSpPr/>
            <p:nvPr/>
          </p:nvSpPr>
          <p:spPr>
            <a:xfrm flipV="1">
              <a:off x="381090" y="11137993"/>
              <a:ext cx="8288699" cy="184216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7E6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: Rounded Corners 46">
              <a:extLst>
                <a:ext uri="{FF2B5EF4-FFF2-40B4-BE49-F238E27FC236}">
                  <a16:creationId xmlns:a16="http://schemas.microsoft.com/office/drawing/2014/main" id="{BF7984DA-BE7F-2726-A731-BDCA87F08927}"/>
                </a:ext>
              </a:extLst>
            </p:cNvPr>
            <p:cNvSpPr/>
            <p:nvPr/>
          </p:nvSpPr>
          <p:spPr>
            <a:xfrm>
              <a:off x="389255" y="11312361"/>
              <a:ext cx="4904623" cy="1564845"/>
            </a:xfrm>
            <a:custGeom>
              <a:avLst/>
              <a:gdLst>
                <a:gd name="connsiteX0" fmla="*/ 0 w 8303685"/>
                <a:gd name="connsiteY0" fmla="*/ 211948 h 2096626"/>
                <a:gd name="connsiteX1" fmla="*/ 211948 w 8303685"/>
                <a:gd name="connsiteY1" fmla="*/ 0 h 2096626"/>
                <a:gd name="connsiteX2" fmla="*/ 8091737 w 8303685"/>
                <a:gd name="connsiteY2" fmla="*/ 0 h 2096626"/>
                <a:gd name="connsiteX3" fmla="*/ 8303685 w 8303685"/>
                <a:gd name="connsiteY3" fmla="*/ 211948 h 2096626"/>
                <a:gd name="connsiteX4" fmla="*/ 8303685 w 8303685"/>
                <a:gd name="connsiteY4" fmla="*/ 1884678 h 2096626"/>
                <a:gd name="connsiteX5" fmla="*/ 8091737 w 8303685"/>
                <a:gd name="connsiteY5" fmla="*/ 2096626 h 2096626"/>
                <a:gd name="connsiteX6" fmla="*/ 211948 w 8303685"/>
                <a:gd name="connsiteY6" fmla="*/ 2096626 h 2096626"/>
                <a:gd name="connsiteX7" fmla="*/ 0 w 8303685"/>
                <a:gd name="connsiteY7" fmla="*/ 1884678 h 2096626"/>
                <a:gd name="connsiteX8" fmla="*/ 0 w 8303685"/>
                <a:gd name="connsiteY8" fmla="*/ 211948 h 2096626"/>
                <a:gd name="connsiteX0" fmla="*/ 0 w 8303685"/>
                <a:gd name="connsiteY0" fmla="*/ 251004 h 2135682"/>
                <a:gd name="connsiteX1" fmla="*/ 211948 w 8303685"/>
                <a:gd name="connsiteY1" fmla="*/ 39056 h 2135682"/>
                <a:gd name="connsiteX2" fmla="*/ 8091737 w 8303685"/>
                <a:gd name="connsiteY2" fmla="*/ 39056 h 2135682"/>
                <a:gd name="connsiteX3" fmla="*/ 8303685 w 8303685"/>
                <a:gd name="connsiteY3" fmla="*/ 251004 h 2135682"/>
                <a:gd name="connsiteX4" fmla="*/ 8303685 w 8303685"/>
                <a:gd name="connsiteY4" fmla="*/ 1923734 h 2135682"/>
                <a:gd name="connsiteX5" fmla="*/ 8091737 w 8303685"/>
                <a:gd name="connsiteY5" fmla="*/ 2135682 h 2135682"/>
                <a:gd name="connsiteX6" fmla="*/ 211948 w 8303685"/>
                <a:gd name="connsiteY6" fmla="*/ 2135682 h 2135682"/>
                <a:gd name="connsiteX7" fmla="*/ 0 w 8303685"/>
                <a:gd name="connsiteY7" fmla="*/ 1923734 h 2135682"/>
                <a:gd name="connsiteX8" fmla="*/ 0 w 8303685"/>
                <a:gd name="connsiteY8" fmla="*/ 251004 h 213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03685" h="2135682">
                  <a:moveTo>
                    <a:pt x="0" y="251004"/>
                  </a:moveTo>
                  <a:cubicBezTo>
                    <a:pt x="0" y="133948"/>
                    <a:pt x="110132" y="-90484"/>
                    <a:pt x="211948" y="39056"/>
                  </a:cubicBezTo>
                  <a:lnTo>
                    <a:pt x="8091737" y="39056"/>
                  </a:lnTo>
                  <a:cubicBezTo>
                    <a:pt x="8208793" y="39056"/>
                    <a:pt x="8303685" y="133948"/>
                    <a:pt x="8303685" y="251004"/>
                  </a:cubicBezTo>
                  <a:lnTo>
                    <a:pt x="8303685" y="1923734"/>
                  </a:lnTo>
                  <a:cubicBezTo>
                    <a:pt x="8303685" y="2040790"/>
                    <a:pt x="8208793" y="2135682"/>
                    <a:pt x="8091737" y="2135682"/>
                  </a:cubicBezTo>
                  <a:lnTo>
                    <a:pt x="211948" y="2135682"/>
                  </a:lnTo>
                  <a:cubicBezTo>
                    <a:pt x="94892" y="2135682"/>
                    <a:pt x="0" y="2040790"/>
                    <a:pt x="0" y="1923734"/>
                  </a:cubicBezTo>
                  <a:lnTo>
                    <a:pt x="0" y="25100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400" i="0" dirty="0" err="1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Station_Name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ชื่อสถานี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: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บ้านพรมเหนือ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1400" i="0" dirty="0" err="1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Station_Code</a:t>
              </a: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–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รหัส 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: TE.130</a:t>
              </a:r>
              <a:endParaRPr lang="en-US" sz="14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l">
                <a:buNone/>
              </a:pPr>
              <a:r>
                <a:rPr lang="en-US" sz="1400" i="0" dirty="0" err="1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River_Basin</a:t>
              </a: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ลุ่มน้ำ </a:t>
              </a: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: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ชี</a:t>
              </a: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Latitude -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ละติจูด : 16.388908 </a:t>
              </a:r>
              <a:r>
                <a:rPr lang="th-TH" sz="1400" i="0" dirty="0">
                  <a:solidFill>
                    <a:schemeClr val="accent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แผนที่ </a:t>
              </a:r>
              <a:r>
                <a:rPr lang="en-US" sz="1400" i="0" dirty="0">
                  <a:solidFill>
                    <a:schemeClr val="accent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Google</a:t>
              </a:r>
              <a:endParaRPr lang="en-US" sz="1400" b="1" i="0" dirty="0">
                <a:solidFill>
                  <a:schemeClr val="accent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Longitude -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ลองจิจูด : 102.080796 </a:t>
              </a:r>
              <a:r>
                <a:rPr lang="th-TH" sz="1400" i="0" dirty="0">
                  <a:solidFill>
                    <a:schemeClr val="accent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แผนที่ </a:t>
              </a:r>
              <a:r>
                <a:rPr lang="en-US" sz="1400" i="0" dirty="0">
                  <a:solidFill>
                    <a:schemeClr val="accent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Google</a:t>
              </a:r>
            </a:p>
            <a:p>
              <a:pPr algn="l">
                <a:buNone/>
              </a:pPr>
              <a:r>
                <a:rPr lang="en-US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Location - </a:t>
              </a:r>
              <a:r>
                <a:rPr lang="th-TH" sz="1400" i="0" dirty="0">
                  <a:solidFill>
                    <a:schemeClr val="tx1"/>
                  </a:solidFill>
                  <a:effectLst/>
                  <a:latin typeface="TH Sarabun New" panose="020B0500040200020003" pitchFamily="34" charset="-34"/>
                  <a:cs typeface="TH Sarabun New" panose="020B0500040200020003" pitchFamily="34" charset="-34"/>
                </a:rPr>
                <a:t>ที่ตั้ง : อ.ภูเขียว จ.ชัยภูมิ</a:t>
              </a:r>
            </a:p>
            <a:p>
              <a:r>
                <a:rPr lang="en-US" sz="1400" dirty="0" err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Measured_Value</a:t>
              </a:r>
              <a:r>
                <a:rPr lang="en-US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400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ค่าที่ตรวจวัด : ระดับน้ำ และปริมาณน้ำฝน</a:t>
              </a:r>
            </a:p>
            <a:p>
              <a:endParaRPr lang="th-TH" sz="1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DBCA28A-7373-7056-DE78-35684D523141}"/>
                </a:ext>
              </a:extLst>
            </p:cNvPr>
            <p:cNvSpPr txBox="1"/>
            <p:nvPr/>
          </p:nvSpPr>
          <p:spPr>
            <a:xfrm>
              <a:off x="541149" y="10754763"/>
              <a:ext cx="30764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Specifications - </a:t>
              </a:r>
              <a:r>
                <a:rPr lang="th-TH" sz="16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ข้อมูลจำเพาะของสถานี</a:t>
              </a:r>
              <a:endParaRPr lang="en-US" sz="1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3E43923-FC57-FAFC-F053-105B94A8619C}"/>
              </a:ext>
            </a:extLst>
          </p:cNvPr>
          <p:cNvSpPr/>
          <p:nvPr/>
        </p:nvSpPr>
        <p:spPr>
          <a:xfrm>
            <a:off x="567073" y="9319077"/>
            <a:ext cx="8288698" cy="441795"/>
          </a:xfrm>
          <a:prstGeom prst="rect">
            <a:avLst/>
          </a:prstGeom>
          <a:solidFill>
            <a:srgbClr val="2196F3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8E3AC-5331-EB72-6A98-0E3ED3F60D62}"/>
              </a:ext>
            </a:extLst>
          </p:cNvPr>
          <p:cNvSpPr txBox="1"/>
          <p:nvPr/>
        </p:nvSpPr>
        <p:spPr>
          <a:xfrm>
            <a:off x="659891" y="9389165"/>
            <a:ext cx="467158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 Image Section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718F11-32CD-FF81-FE33-040A16D051E4}"/>
              </a:ext>
            </a:extLst>
          </p:cNvPr>
          <p:cNvSpPr/>
          <p:nvPr/>
        </p:nvSpPr>
        <p:spPr>
          <a:xfrm flipV="1">
            <a:off x="567039" y="9744176"/>
            <a:ext cx="8288699" cy="3586805"/>
          </a:xfrm>
          <a:prstGeom prst="rect">
            <a:avLst/>
          </a:prstGeom>
          <a:solidFill>
            <a:schemeClr val="bg1"/>
          </a:solidFill>
          <a:ln>
            <a:solidFill>
              <a:srgbClr val="E7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th-TH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F9648E-6D5D-288F-D6AF-A7CA2F52A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36" y="9803204"/>
            <a:ext cx="2596421" cy="3385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DFA1AB-CAB2-980D-48C0-A995A92FD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258" y="9814157"/>
            <a:ext cx="2596421" cy="3385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6694FD-179B-E6EF-4AEE-01DA47A11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41" y="9814157"/>
            <a:ext cx="2596421" cy="33859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4300EE-D329-68E4-0FB3-ADE8C00A5231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C55837-9945-CB66-B00B-41DA0B8EF4F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D8C32D-0AD7-DFFD-4F9C-835EA0C2341E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EF57E413-1F97-5DEA-B449-D76A42212DBE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D8A0C8-C1FE-D4E8-5F03-24AC51D6EBA6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EF13D5-D09F-E1C9-FF01-87185FD83CE7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F6563B-60B1-9A39-DEBE-C6C2061DC9F9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7A5F3B5B-B05D-7778-9BFA-049CBFB48234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C6E9B12-0030-BF11-0464-E31A829DD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63470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A3424F75-956E-BA46-5FC9-0032BB0BB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2C489F6-E092-0C2B-450A-C6437224C8AD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B251180-2EF4-D1AC-F37D-D3473153B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48E97DE9-4702-6E98-4F4C-86319FCF286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8BB1A09-3AD8-9A7E-B115-E0CDB54EA8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039" y="4005769"/>
            <a:ext cx="8252083" cy="26892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279459B-8712-65CC-2F83-7192CD4397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0" r="16270"/>
          <a:stretch>
            <a:fillRect/>
          </a:stretch>
        </p:blipFill>
        <p:spPr>
          <a:xfrm>
            <a:off x="3094458" y="1515499"/>
            <a:ext cx="2781495" cy="2319327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28C7FA9-B872-D6BC-2C84-AEE6346C1939}"/>
              </a:ext>
            </a:extLst>
          </p:cNvPr>
          <p:cNvGrpSpPr/>
          <p:nvPr/>
        </p:nvGrpSpPr>
        <p:grpSpPr>
          <a:xfrm>
            <a:off x="5987679" y="1515499"/>
            <a:ext cx="2850398" cy="2357458"/>
            <a:chOff x="4239147" y="4425588"/>
            <a:chExt cx="3444991" cy="212544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68EAD7F-A57A-EE53-E9E7-657F57D629E7}"/>
                </a:ext>
              </a:extLst>
            </p:cNvPr>
            <p:cNvSpPr/>
            <p:nvPr/>
          </p:nvSpPr>
          <p:spPr>
            <a:xfrm>
              <a:off x="4248556" y="4425588"/>
              <a:ext cx="3426174" cy="2096627"/>
            </a:xfrm>
            <a:prstGeom prst="roundRect">
              <a:avLst>
                <a:gd name="adj" fmla="val 6838"/>
              </a:avLst>
            </a:prstGeom>
            <a:solidFill>
              <a:srgbClr val="FFFFF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buNone/>
              </a:pPr>
              <a:endParaRPr lang="th-TH" sz="11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5035403-AA24-FCAC-6FF2-2A0BE6BAB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239147" y="4425588"/>
              <a:ext cx="3444991" cy="2125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714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D001E-2FED-DE0B-AAE6-1EC2FF8F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1F60BB21-999C-529E-685E-70F02A1BEE17}"/>
              </a:ext>
            </a:extLst>
          </p:cNvPr>
          <p:cNvSpPr/>
          <p:nvPr/>
        </p:nvSpPr>
        <p:spPr>
          <a:xfrm>
            <a:off x="106616" y="542629"/>
            <a:ext cx="8952931" cy="16411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222CCC-5994-9833-81EE-03E795BC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02" y="1570861"/>
            <a:ext cx="8197328" cy="46242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0281E09-1151-A9AC-D2BD-38326E220B19}"/>
              </a:ext>
            </a:extLst>
          </p:cNvPr>
          <p:cNvGrpSpPr/>
          <p:nvPr/>
        </p:nvGrpSpPr>
        <p:grpSpPr>
          <a:xfrm>
            <a:off x="6846566" y="935591"/>
            <a:ext cx="2024158" cy="256198"/>
            <a:chOff x="2377143" y="645906"/>
            <a:chExt cx="1591607" cy="25619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437C579-6C34-2BC9-D0C1-82956D3BB46C}"/>
                </a:ext>
              </a:extLst>
            </p:cNvPr>
            <p:cNvSpPr/>
            <p:nvPr/>
          </p:nvSpPr>
          <p:spPr>
            <a:xfrm>
              <a:off x="2377143" y="645906"/>
              <a:ext cx="1591607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FF599F-4960-BD1E-8108-61038CFD8C63}"/>
                </a:ext>
              </a:extLst>
            </p:cNvPr>
            <p:cNvSpPr txBox="1"/>
            <p:nvPr/>
          </p:nvSpPr>
          <p:spPr>
            <a:xfrm>
              <a:off x="2412473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To Date:</a:t>
              </a: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C9B7E338-B8D7-7F51-4A2B-280D63F991EA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F1153D4-B352-B72F-1BBF-715D2A7E7260}"/>
              </a:ext>
            </a:extLst>
          </p:cNvPr>
          <p:cNvGrpSpPr/>
          <p:nvPr/>
        </p:nvGrpSpPr>
        <p:grpSpPr>
          <a:xfrm>
            <a:off x="4620525" y="941969"/>
            <a:ext cx="2151998" cy="256198"/>
            <a:chOff x="2276624" y="645906"/>
            <a:chExt cx="1692126" cy="25619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873A17A-7AEC-A4B0-6142-692DB76A7253}"/>
                </a:ext>
              </a:extLst>
            </p:cNvPr>
            <p:cNvSpPr/>
            <p:nvPr/>
          </p:nvSpPr>
          <p:spPr>
            <a:xfrm>
              <a:off x="2276624" y="645906"/>
              <a:ext cx="1692126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BE3FFC-0293-3186-D656-324CFFFCEEB8}"/>
                </a:ext>
              </a:extLst>
            </p:cNvPr>
            <p:cNvSpPr txBox="1"/>
            <p:nvPr/>
          </p:nvSpPr>
          <p:spPr>
            <a:xfrm>
              <a:off x="2298946" y="655883"/>
              <a:ext cx="529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Since Date: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7418E06A-96F5-E9C0-595E-9A789067ED85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AF03BF-7628-FC0E-0784-7D7D3A3814FC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A66EA77-7AA2-4ACD-1163-73BA07384F9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37119D-BD6A-CF87-11F3-2F7CF8A2523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44" name="Arrow: Down 43">
              <a:extLst>
                <a:ext uri="{FF2B5EF4-FFF2-40B4-BE49-F238E27FC236}">
                  <a16:creationId xmlns:a16="http://schemas.microsoft.com/office/drawing/2014/main" id="{02E9947F-4B98-5BAA-0507-0F363C793286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8E43FA-78F0-E5D2-B3D7-145F6EB4B7DC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EA1C983-A833-A4DC-C0A6-2A42C1562187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B261F8C-07E3-9F4B-CB25-E6573C95E04A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86613E3D-5CD2-5498-9FA2-5103C115555C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330DB3D-52E8-CCA8-5F99-6F9D23AF86B3}"/>
              </a:ext>
            </a:extLst>
          </p:cNvPr>
          <p:cNvGrpSpPr/>
          <p:nvPr/>
        </p:nvGrpSpPr>
        <p:grpSpPr>
          <a:xfrm>
            <a:off x="232993" y="943445"/>
            <a:ext cx="2197031" cy="277701"/>
            <a:chOff x="201705" y="1219253"/>
            <a:chExt cx="2264507" cy="277701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B3C74D28-4E73-1DEC-A5C1-DBF51ED45EFB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Search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F3AFA62-8178-E16B-7ACD-D88A96631886}"/>
                </a:ext>
              </a:extLst>
            </p:cNvPr>
            <p:cNvSpPr/>
            <p:nvPr/>
          </p:nvSpPr>
          <p:spPr>
            <a:xfrm>
              <a:off x="887046" y="1222678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CSV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07E1081-2EA0-77C7-820A-ABCE1168BE57}"/>
                </a:ext>
              </a:extLst>
            </p:cNvPr>
            <p:cNvSpPr/>
            <p:nvPr/>
          </p:nvSpPr>
          <p:spPr>
            <a:xfrm>
              <a:off x="1707402" y="1219253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PDF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EABD4B-F5F3-63C5-117A-EF9C39F0E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51152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92C8C2F-0DE5-1716-E6F7-94F9DC917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C984471-2EC0-3B78-5EE3-7ECF69F44825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ED4160-5650-4D42-C196-A0E44282E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43B5C380-6745-6A27-74BA-87FA7A61E8FB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06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6CEA6-67A6-F6F9-97E3-74F75C09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">
            <a:extLst>
              <a:ext uri="{FF2B5EF4-FFF2-40B4-BE49-F238E27FC236}">
                <a16:creationId xmlns:a16="http://schemas.microsoft.com/office/drawing/2014/main" id="{9F62A39D-F4D5-E19C-6F39-170695667E4A}"/>
              </a:ext>
            </a:extLst>
          </p:cNvPr>
          <p:cNvSpPr/>
          <p:nvPr/>
        </p:nvSpPr>
        <p:spPr>
          <a:xfrm>
            <a:off x="106616" y="542629"/>
            <a:ext cx="8952931" cy="10506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0FE21-4BE1-AA19-FDA7-E2E243F3D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401" y="1087776"/>
            <a:ext cx="119616" cy="5143500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0AAD243-392F-BF7E-1E90-367F64AF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90366"/>
              </p:ext>
            </p:extLst>
          </p:nvPr>
        </p:nvGraphicFramePr>
        <p:xfrm>
          <a:off x="282820" y="3647440"/>
          <a:ext cx="8400823" cy="6248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01">
                  <a:extLst>
                    <a:ext uri="{9D8B030D-6E8A-4147-A177-3AD203B41FA5}">
                      <a16:colId xmlns:a16="http://schemas.microsoft.com/office/drawing/2014/main" val="461918300"/>
                    </a:ext>
                  </a:extLst>
                </a:gridCol>
                <a:gridCol w="1067072">
                  <a:extLst>
                    <a:ext uri="{9D8B030D-6E8A-4147-A177-3AD203B41FA5}">
                      <a16:colId xmlns:a16="http://schemas.microsoft.com/office/drawing/2014/main" val="4221849271"/>
                    </a:ext>
                  </a:extLst>
                </a:gridCol>
                <a:gridCol w="1332090">
                  <a:extLst>
                    <a:ext uri="{9D8B030D-6E8A-4147-A177-3AD203B41FA5}">
                      <a16:colId xmlns:a16="http://schemas.microsoft.com/office/drawing/2014/main" val="2534722362"/>
                    </a:ext>
                  </a:extLst>
                </a:gridCol>
                <a:gridCol w="1283317">
                  <a:extLst>
                    <a:ext uri="{9D8B030D-6E8A-4147-A177-3AD203B41FA5}">
                      <a16:colId xmlns:a16="http://schemas.microsoft.com/office/drawing/2014/main" val="1910603874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115444645"/>
                    </a:ext>
                  </a:extLst>
                </a:gridCol>
                <a:gridCol w="1718754">
                  <a:extLst>
                    <a:ext uri="{9D8B030D-6E8A-4147-A177-3AD203B41FA5}">
                      <a16:colId xmlns:a16="http://schemas.microsoft.com/office/drawing/2014/main" val="2637547562"/>
                    </a:ext>
                  </a:extLst>
                </a:gridCol>
                <a:gridCol w="1051769">
                  <a:extLst>
                    <a:ext uri="{9D8B030D-6E8A-4147-A177-3AD203B41FA5}">
                      <a16:colId xmlns:a16="http://schemas.microsoft.com/office/drawing/2014/main" val="862644624"/>
                    </a:ext>
                  </a:extLst>
                </a:gridCol>
              </a:tblGrid>
              <a:tr h="108591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–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สถานีโทรมาตร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Image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River -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Date Time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–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เหตุการณ์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284869"/>
                  </a:ext>
                </a:extLst>
              </a:tr>
              <a:tr h="10107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10:51 AM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29518"/>
                  </a:ext>
                </a:extLst>
              </a:tr>
              <a:tr h="10453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10:45 AM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02866"/>
                  </a:ext>
                </a:extLst>
              </a:tr>
              <a:tr h="10504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10:35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Intrution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623210"/>
                  </a:ext>
                </a:extLst>
              </a:tr>
              <a:tr h="10257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 10:10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12388"/>
                  </a:ext>
                </a:extLst>
              </a:tr>
              <a:tr h="1030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5.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TS.2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 9:12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20211"/>
                  </a:ext>
                </a:extLst>
              </a:tr>
            </a:tbl>
          </a:graphicData>
        </a:graphic>
      </p:graphicFrame>
      <p:pic>
        <p:nvPicPr>
          <p:cNvPr id="43" name="Picture 42">
            <a:extLst>
              <a:ext uri="{FF2B5EF4-FFF2-40B4-BE49-F238E27FC236}">
                <a16:creationId xmlns:a16="http://schemas.microsoft.com/office/drawing/2014/main" id="{2CDF357D-FB10-CFA3-A438-E9F698AB0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77" y="7849768"/>
            <a:ext cx="1362975" cy="102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F6391D0-CD61-7B02-5FCD-5847C50C0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877" y="8913102"/>
            <a:ext cx="1367802" cy="982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FF3241B-477E-CEA2-F53A-DE8F11F5A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879" y="5791462"/>
            <a:ext cx="1367800" cy="102915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8A2257C-D65E-6B5C-207F-D4840841E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78" y="6820616"/>
            <a:ext cx="1367799" cy="1029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C848AC-4963-B253-54D8-25D08B483D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2921" y="108144"/>
            <a:ext cx="272008" cy="272008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7C04DE09-F74F-F15E-F9FF-9484FE7016D2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A3BE418-D89A-745F-DCED-198F5821B86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D1D2AFF-549B-B6C3-3EE5-4723AACBB70D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61" name="Arrow: Down 60">
              <a:extLst>
                <a:ext uri="{FF2B5EF4-FFF2-40B4-BE49-F238E27FC236}">
                  <a16:creationId xmlns:a16="http://schemas.microsoft.com/office/drawing/2014/main" id="{AB12D29D-EC0F-619D-CB00-81B9689AE182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E12AA66-CC69-AC3F-8E63-25EC97379EBD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6DB0F8-C08A-B0CB-DF7F-C429FF73C454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FD7DB4-1508-81C7-BE2D-06BCF8859512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440826B5-2D85-E1F9-A949-CC84C2DD89B6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5ACE87-BD97-9013-5080-2227B3F2C27E}"/>
              </a:ext>
            </a:extLst>
          </p:cNvPr>
          <p:cNvGrpSpPr/>
          <p:nvPr/>
        </p:nvGrpSpPr>
        <p:grpSpPr>
          <a:xfrm>
            <a:off x="6846566" y="935591"/>
            <a:ext cx="2024158" cy="256198"/>
            <a:chOff x="2377143" y="645906"/>
            <a:chExt cx="1591607" cy="256198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2C2B4796-FD6C-5A96-FE25-F002FFD376D5}"/>
                </a:ext>
              </a:extLst>
            </p:cNvPr>
            <p:cNvSpPr/>
            <p:nvPr/>
          </p:nvSpPr>
          <p:spPr>
            <a:xfrm>
              <a:off x="2377143" y="645906"/>
              <a:ext cx="1591607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785F4C0-16EF-B9EC-4DA3-22FDD93ABE57}"/>
                </a:ext>
              </a:extLst>
            </p:cNvPr>
            <p:cNvSpPr txBox="1"/>
            <p:nvPr/>
          </p:nvSpPr>
          <p:spPr>
            <a:xfrm>
              <a:off x="2412473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To Date:</a:t>
              </a:r>
            </a:p>
          </p:txBody>
        </p:sp>
        <p:sp>
          <p:nvSpPr>
            <p:cNvPr id="71" name="Arrow: Down 70">
              <a:extLst>
                <a:ext uri="{FF2B5EF4-FFF2-40B4-BE49-F238E27FC236}">
                  <a16:creationId xmlns:a16="http://schemas.microsoft.com/office/drawing/2014/main" id="{CF5218FB-BD88-F145-3338-838D1A08266B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871E304-4DFC-52DA-DDA4-CB1F9F102B2C}"/>
              </a:ext>
            </a:extLst>
          </p:cNvPr>
          <p:cNvGrpSpPr/>
          <p:nvPr/>
        </p:nvGrpSpPr>
        <p:grpSpPr>
          <a:xfrm>
            <a:off x="4620525" y="941969"/>
            <a:ext cx="2151998" cy="256198"/>
            <a:chOff x="2276624" y="645906"/>
            <a:chExt cx="1692126" cy="256198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7D0849C1-E1C5-786D-9D46-2534A50164B1}"/>
                </a:ext>
              </a:extLst>
            </p:cNvPr>
            <p:cNvSpPr/>
            <p:nvPr/>
          </p:nvSpPr>
          <p:spPr>
            <a:xfrm>
              <a:off x="2276624" y="645906"/>
              <a:ext cx="1692126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35CB6D-10DB-EB4B-4C08-D6C8E152ABA6}"/>
                </a:ext>
              </a:extLst>
            </p:cNvPr>
            <p:cNvSpPr txBox="1"/>
            <p:nvPr/>
          </p:nvSpPr>
          <p:spPr>
            <a:xfrm>
              <a:off x="2298946" y="655883"/>
              <a:ext cx="529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Since Date:</a:t>
              </a:r>
            </a:p>
          </p:txBody>
        </p:sp>
        <p:sp>
          <p:nvSpPr>
            <p:cNvPr id="75" name="Arrow: Down 74">
              <a:extLst>
                <a:ext uri="{FF2B5EF4-FFF2-40B4-BE49-F238E27FC236}">
                  <a16:creationId xmlns:a16="http://schemas.microsoft.com/office/drawing/2014/main" id="{C35C25D4-966F-9490-5275-D186B4A08E70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74BBD6-9894-D42F-799D-32353FF15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63521"/>
              </p:ext>
            </p:extLst>
          </p:nvPr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Map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6FF17285-A9BF-600D-110B-9B91C10427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9279621-DE4B-E2A1-08C6-3595403F2CF6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232B9C1-A0FA-16DC-554F-05BED7B85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BC7031AD-C8F5-ECD8-84C9-2D76AC998C9C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E8C9303-012B-8D79-56EA-D49C96EF44EE}"/>
              </a:ext>
            </a:extLst>
          </p:cNvPr>
          <p:cNvGrpSpPr/>
          <p:nvPr/>
        </p:nvGrpSpPr>
        <p:grpSpPr>
          <a:xfrm>
            <a:off x="232993" y="943445"/>
            <a:ext cx="2197031" cy="277701"/>
            <a:chOff x="201705" y="1219253"/>
            <a:chExt cx="2264507" cy="2777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4134711-0D28-D14F-0840-30299C9DA97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Search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A1A5AFB-26B2-480C-CD19-377645435762}"/>
                </a:ext>
              </a:extLst>
            </p:cNvPr>
            <p:cNvSpPr/>
            <p:nvPr/>
          </p:nvSpPr>
          <p:spPr>
            <a:xfrm>
              <a:off x="887046" y="1222678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CSV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EEEA1DF-3E74-CAF2-0759-E6E5799B22F9}"/>
                </a:ext>
              </a:extLst>
            </p:cNvPr>
            <p:cNvSpPr/>
            <p:nvPr/>
          </p:nvSpPr>
          <p:spPr>
            <a:xfrm>
              <a:off x="1707402" y="1219253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PDF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CC3741A-4CD1-7563-D75D-AFD9E3178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879" y="4728127"/>
            <a:ext cx="1367802" cy="10301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09FC3FD1-2091-E3EC-7CCE-F3783E84EDD9}"/>
              </a:ext>
            </a:extLst>
          </p:cNvPr>
          <p:cNvSpPr/>
          <p:nvPr/>
        </p:nvSpPr>
        <p:spPr>
          <a:xfrm>
            <a:off x="7657726" y="5071198"/>
            <a:ext cx="883678" cy="498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✅</a:t>
            </a:r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B38CE6-4695-2930-2ACD-90DBD2D8B3C6}"/>
              </a:ext>
            </a:extLst>
          </p:cNvPr>
          <p:cNvSpPr/>
          <p:nvPr/>
        </p:nvSpPr>
        <p:spPr>
          <a:xfrm>
            <a:off x="433070" y="1767549"/>
            <a:ext cx="3872486" cy="1619274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4AEE6D-7C6D-0EA7-4E37-CDD1475514CC}"/>
              </a:ext>
            </a:extLst>
          </p:cNvPr>
          <p:cNvSpPr txBox="1"/>
          <p:nvPr/>
        </p:nvSpPr>
        <p:spPr>
          <a:xfrm>
            <a:off x="877514" y="2013790"/>
            <a:ext cx="318959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Approve</a:t>
            </a:r>
          </a:p>
          <a:p>
            <a:pPr algn="ctr"/>
            <a:r>
              <a:rPr lang="en-US" sz="5400" b="1" dirty="0">
                <a:solidFill>
                  <a:srgbClr val="FF0000"/>
                </a:solidFill>
              </a:rPr>
              <a:t>20</a:t>
            </a:r>
            <a:endParaRPr lang="th-TH" sz="5400" b="1" dirty="0">
              <a:solidFill>
                <a:srgbClr val="FF000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F7BCD5-9136-2B87-43A5-CB92A0789C52}"/>
              </a:ext>
            </a:extLst>
          </p:cNvPr>
          <p:cNvSpPr/>
          <p:nvPr/>
        </p:nvSpPr>
        <p:spPr>
          <a:xfrm>
            <a:off x="9381546" y="3029724"/>
            <a:ext cx="2390590" cy="1619274"/>
          </a:xfrm>
          <a:prstGeom prst="rect">
            <a:avLst/>
          </a:prstGeom>
          <a:solidFill>
            <a:srgbClr val="FDF4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F2E154-8A3E-9314-F3ED-3244EF2EC485}"/>
              </a:ext>
            </a:extLst>
          </p:cNvPr>
          <p:cNvSpPr txBox="1"/>
          <p:nvPr/>
        </p:nvSpPr>
        <p:spPr>
          <a:xfrm>
            <a:off x="9513540" y="3264739"/>
            <a:ext cx="21300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Pending</a:t>
            </a:r>
          </a:p>
          <a:p>
            <a:pPr algn="ctr"/>
            <a:r>
              <a:rPr lang="en-US" sz="5400" b="1" dirty="0">
                <a:solidFill>
                  <a:srgbClr val="FFC000"/>
                </a:solidFill>
              </a:rPr>
              <a:t>40</a:t>
            </a:r>
            <a:endParaRPr lang="th-TH" sz="5400" b="1" dirty="0">
              <a:solidFill>
                <a:srgbClr val="FFC000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FE7013-59E3-BE73-D568-3BF1FC56F560}"/>
              </a:ext>
            </a:extLst>
          </p:cNvPr>
          <p:cNvSpPr/>
          <p:nvPr/>
        </p:nvSpPr>
        <p:spPr>
          <a:xfrm>
            <a:off x="4571999" y="1798618"/>
            <a:ext cx="4023117" cy="16192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2F045D1-E12A-F993-F9ED-80BE7EACBB50}"/>
              </a:ext>
            </a:extLst>
          </p:cNvPr>
          <p:cNvSpPr txBox="1"/>
          <p:nvPr/>
        </p:nvSpPr>
        <p:spPr>
          <a:xfrm>
            <a:off x="4714153" y="2033633"/>
            <a:ext cx="358463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Reject</a:t>
            </a:r>
          </a:p>
          <a:p>
            <a:pPr algn="ctr"/>
            <a:r>
              <a:rPr lang="en-US" sz="5400" b="1" dirty="0"/>
              <a:t>20</a:t>
            </a:r>
            <a:endParaRPr lang="th-TH" sz="54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D31D701-21BC-22BA-99BB-022E4FDBF06F}"/>
              </a:ext>
            </a:extLst>
          </p:cNvPr>
          <p:cNvSpPr txBox="1"/>
          <p:nvPr/>
        </p:nvSpPr>
        <p:spPr>
          <a:xfrm>
            <a:off x="219672" y="1314532"/>
            <a:ext cx="32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Security - </a:t>
            </a:r>
            <a:r>
              <a:rPr lang="th-TH" sz="2000" b="1" dirty="0"/>
              <a:t>ระบบรักษาความปลอดภัย</a:t>
            </a:r>
            <a:endParaRPr lang="th-TH" sz="5400" b="1" dirty="0"/>
          </a:p>
        </p:txBody>
      </p:sp>
    </p:spTree>
    <p:extLst>
      <p:ext uri="{BB962C8B-B14F-4D97-AF65-F5344CB8AC3E}">
        <p14:creationId xmlns:p14="http://schemas.microsoft.com/office/powerpoint/2010/main" val="53721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4ADDE-CC89-E176-CFC6-5525BE86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">
            <a:extLst>
              <a:ext uri="{FF2B5EF4-FFF2-40B4-BE49-F238E27FC236}">
                <a16:creationId xmlns:a16="http://schemas.microsoft.com/office/drawing/2014/main" id="{A50FFE85-A118-5D93-1E55-00A8E0A8D021}"/>
              </a:ext>
            </a:extLst>
          </p:cNvPr>
          <p:cNvSpPr/>
          <p:nvPr/>
        </p:nvSpPr>
        <p:spPr>
          <a:xfrm>
            <a:off x="106616" y="542629"/>
            <a:ext cx="8952931" cy="10506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D78D6-7350-A95E-FD7F-435D82A75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401" y="1087776"/>
            <a:ext cx="119616" cy="5143500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4A7D871-096B-7E28-02FA-B2FB6E340239}"/>
              </a:ext>
            </a:extLst>
          </p:cNvPr>
          <p:cNvGraphicFramePr>
            <a:graphicFrameLocks noGrp="1"/>
          </p:cNvGraphicFramePr>
          <p:nvPr/>
        </p:nvGraphicFramePr>
        <p:xfrm>
          <a:off x="282820" y="3647440"/>
          <a:ext cx="8400823" cy="6248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01">
                  <a:extLst>
                    <a:ext uri="{9D8B030D-6E8A-4147-A177-3AD203B41FA5}">
                      <a16:colId xmlns:a16="http://schemas.microsoft.com/office/drawing/2014/main" val="461918300"/>
                    </a:ext>
                  </a:extLst>
                </a:gridCol>
                <a:gridCol w="1067072">
                  <a:extLst>
                    <a:ext uri="{9D8B030D-6E8A-4147-A177-3AD203B41FA5}">
                      <a16:colId xmlns:a16="http://schemas.microsoft.com/office/drawing/2014/main" val="4221849271"/>
                    </a:ext>
                  </a:extLst>
                </a:gridCol>
                <a:gridCol w="1332090">
                  <a:extLst>
                    <a:ext uri="{9D8B030D-6E8A-4147-A177-3AD203B41FA5}">
                      <a16:colId xmlns:a16="http://schemas.microsoft.com/office/drawing/2014/main" val="2534722362"/>
                    </a:ext>
                  </a:extLst>
                </a:gridCol>
                <a:gridCol w="1283317">
                  <a:extLst>
                    <a:ext uri="{9D8B030D-6E8A-4147-A177-3AD203B41FA5}">
                      <a16:colId xmlns:a16="http://schemas.microsoft.com/office/drawing/2014/main" val="1910603874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115444645"/>
                    </a:ext>
                  </a:extLst>
                </a:gridCol>
                <a:gridCol w="1718754">
                  <a:extLst>
                    <a:ext uri="{9D8B030D-6E8A-4147-A177-3AD203B41FA5}">
                      <a16:colId xmlns:a16="http://schemas.microsoft.com/office/drawing/2014/main" val="2637547562"/>
                    </a:ext>
                  </a:extLst>
                </a:gridCol>
                <a:gridCol w="1051769">
                  <a:extLst>
                    <a:ext uri="{9D8B030D-6E8A-4147-A177-3AD203B41FA5}">
                      <a16:colId xmlns:a16="http://schemas.microsoft.com/office/drawing/2014/main" val="862644624"/>
                    </a:ext>
                  </a:extLst>
                </a:gridCol>
              </a:tblGrid>
              <a:tr h="108591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–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สถานีโทรมาตร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Image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River -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Date Time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– </a:t>
                      </a:r>
                      <a:r>
                        <a:rPr lang="th-TH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เหตุการณ์</a:t>
                      </a:r>
                      <a:endParaRPr lang="en-US" sz="18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marL="68580" marR="68580" marT="34290" marB="34290" anchor="ctr">
                    <a:solidFill>
                      <a:srgbClr val="2DA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284869"/>
                  </a:ext>
                </a:extLst>
              </a:tr>
              <a:tr h="10107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10:51 AM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29518"/>
                  </a:ext>
                </a:extLst>
              </a:tr>
              <a:tr h="10453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TS.1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10:45 AM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rgbClr val="FA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02866"/>
                  </a:ext>
                </a:extLst>
              </a:tr>
              <a:tr h="10504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</a:t>
                      </a:r>
                      <a:r>
                        <a:rPr lang="th-TH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10:35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Intrution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623210"/>
                  </a:ext>
                </a:extLst>
              </a:tr>
              <a:tr h="10257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TS.3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 10:10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12388"/>
                  </a:ext>
                </a:extLst>
              </a:tr>
              <a:tr h="10302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5.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TS.2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ลุ่มน้ำสะแกกรัง</a:t>
                      </a:r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2025-07-03 9:12 AM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Motion Detection</a:t>
                      </a:r>
                    </a:p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20211"/>
                  </a:ext>
                </a:extLst>
              </a:tr>
            </a:tbl>
          </a:graphicData>
        </a:graphic>
      </p:graphicFrame>
      <p:pic>
        <p:nvPicPr>
          <p:cNvPr id="43" name="Picture 42">
            <a:extLst>
              <a:ext uri="{FF2B5EF4-FFF2-40B4-BE49-F238E27FC236}">
                <a16:creationId xmlns:a16="http://schemas.microsoft.com/office/drawing/2014/main" id="{DF6F8800-215A-D6CC-C513-74A99C6E0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77" y="7849768"/>
            <a:ext cx="1362975" cy="102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39EB0E9-8C8F-FD19-CC09-EF688C15C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877" y="8913102"/>
            <a:ext cx="1367802" cy="982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62B8A2B-2353-26B0-70C7-304ECEA1C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879" y="5791462"/>
            <a:ext cx="1367800" cy="102915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FE4F6E7-899F-2696-18D6-009122169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78" y="6820616"/>
            <a:ext cx="1367799" cy="1029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AEBE3EA-4915-7531-CDF0-CC43BAADA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2921" y="108144"/>
            <a:ext cx="272008" cy="272008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6F435607-DDB2-ACEB-9CC9-C24980871594}"/>
              </a:ext>
            </a:extLst>
          </p:cNvPr>
          <p:cNvGrpSpPr/>
          <p:nvPr/>
        </p:nvGrpSpPr>
        <p:grpSpPr>
          <a:xfrm>
            <a:off x="201705" y="645906"/>
            <a:ext cx="4316580" cy="256198"/>
            <a:chOff x="201705" y="645906"/>
            <a:chExt cx="4316580" cy="25619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EAA05D-6BD4-2FAF-ADCD-D49EEEA92CA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8B9CC1C-BF8A-E3F7-5B9B-840718E9EE0E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Project:</a:t>
              </a:r>
            </a:p>
          </p:txBody>
        </p:sp>
        <p:sp>
          <p:nvSpPr>
            <p:cNvPr id="61" name="Arrow: Down 60">
              <a:extLst>
                <a:ext uri="{FF2B5EF4-FFF2-40B4-BE49-F238E27FC236}">
                  <a16:creationId xmlns:a16="http://schemas.microsoft.com/office/drawing/2014/main" id="{5067D71C-B0E3-3FE9-F564-6845982191B2}"/>
                </a:ext>
              </a:extLst>
            </p:cNvPr>
            <p:cNvSpPr/>
            <p:nvPr/>
          </p:nvSpPr>
          <p:spPr>
            <a:xfrm>
              <a:off x="4348028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21E22ED-AA08-4836-7452-5F86CF177522}"/>
              </a:ext>
            </a:extLst>
          </p:cNvPr>
          <p:cNvGrpSpPr/>
          <p:nvPr/>
        </p:nvGrpSpPr>
        <p:grpSpPr>
          <a:xfrm>
            <a:off x="4625717" y="647315"/>
            <a:ext cx="4250209" cy="256198"/>
            <a:chOff x="626795" y="645906"/>
            <a:chExt cx="3341955" cy="25619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7C02D02-33BF-9411-2750-E2CDCCDC94D6}"/>
                </a:ext>
              </a:extLst>
            </p:cNvPr>
            <p:cNvSpPr/>
            <p:nvPr/>
          </p:nvSpPr>
          <p:spPr>
            <a:xfrm>
              <a:off x="626795" y="645906"/>
              <a:ext cx="3341955" cy="229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A37F50B-ABE5-4CD1-2857-7DBD7D536CF5}"/>
                </a:ext>
              </a:extLst>
            </p:cNvPr>
            <p:cNvSpPr txBox="1"/>
            <p:nvPr/>
          </p:nvSpPr>
          <p:spPr>
            <a:xfrm>
              <a:off x="647944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Basin:</a:t>
              </a:r>
            </a:p>
          </p:txBody>
        </p:sp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6A4F87D8-7942-149B-59F1-47B6B669B218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E00093-09F4-FB5B-C855-68FED99341D1}"/>
              </a:ext>
            </a:extLst>
          </p:cNvPr>
          <p:cNvGrpSpPr/>
          <p:nvPr/>
        </p:nvGrpSpPr>
        <p:grpSpPr>
          <a:xfrm>
            <a:off x="6846566" y="935591"/>
            <a:ext cx="2024158" cy="256198"/>
            <a:chOff x="2377143" y="645906"/>
            <a:chExt cx="1591607" cy="256198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6F5F168-A67C-A57C-ADCA-6068853A7E43}"/>
                </a:ext>
              </a:extLst>
            </p:cNvPr>
            <p:cNvSpPr/>
            <p:nvPr/>
          </p:nvSpPr>
          <p:spPr>
            <a:xfrm>
              <a:off x="2377143" y="645906"/>
              <a:ext cx="1591607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44FD7A0-80B7-5480-061D-210684E9C7C9}"/>
                </a:ext>
              </a:extLst>
            </p:cNvPr>
            <p:cNvSpPr txBox="1"/>
            <p:nvPr/>
          </p:nvSpPr>
          <p:spPr>
            <a:xfrm>
              <a:off x="2412473" y="655883"/>
              <a:ext cx="1080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To Date:</a:t>
              </a:r>
            </a:p>
          </p:txBody>
        </p:sp>
        <p:sp>
          <p:nvSpPr>
            <p:cNvPr id="71" name="Arrow: Down 70">
              <a:extLst>
                <a:ext uri="{FF2B5EF4-FFF2-40B4-BE49-F238E27FC236}">
                  <a16:creationId xmlns:a16="http://schemas.microsoft.com/office/drawing/2014/main" id="{3AFE4C3F-0CAF-E8CD-59E8-C1B5E7FC7D4D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BEECB12-CA9C-6307-F527-CA9A0FA80717}"/>
              </a:ext>
            </a:extLst>
          </p:cNvPr>
          <p:cNvGrpSpPr/>
          <p:nvPr/>
        </p:nvGrpSpPr>
        <p:grpSpPr>
          <a:xfrm>
            <a:off x="4620525" y="941969"/>
            <a:ext cx="2151998" cy="256198"/>
            <a:chOff x="2276624" y="645906"/>
            <a:chExt cx="1692126" cy="256198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5342AB6C-8846-1571-54E1-CA4C937425C0}"/>
                </a:ext>
              </a:extLst>
            </p:cNvPr>
            <p:cNvSpPr/>
            <p:nvPr/>
          </p:nvSpPr>
          <p:spPr>
            <a:xfrm>
              <a:off x="2276624" y="645906"/>
              <a:ext cx="1692126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C53203-BD0B-532B-93A3-D3AB0CBC518E}"/>
                </a:ext>
              </a:extLst>
            </p:cNvPr>
            <p:cNvSpPr txBox="1"/>
            <p:nvPr/>
          </p:nvSpPr>
          <p:spPr>
            <a:xfrm>
              <a:off x="2298946" y="655883"/>
              <a:ext cx="5292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Since Date:</a:t>
              </a:r>
            </a:p>
          </p:txBody>
        </p:sp>
        <p:sp>
          <p:nvSpPr>
            <p:cNvPr id="75" name="Arrow: Down 74">
              <a:extLst>
                <a:ext uri="{FF2B5EF4-FFF2-40B4-BE49-F238E27FC236}">
                  <a16:creationId xmlns:a16="http://schemas.microsoft.com/office/drawing/2014/main" id="{E380A7B1-C467-5743-0EF7-6459EBEAFEF7}"/>
                </a:ext>
              </a:extLst>
            </p:cNvPr>
            <p:cNvSpPr/>
            <p:nvPr/>
          </p:nvSpPr>
          <p:spPr>
            <a:xfrm>
              <a:off x="3752039" y="704646"/>
              <a:ext cx="117431" cy="103340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C403A3-B25B-3970-4705-644E9FD9351A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14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76301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Map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ACCCF992-8C33-577A-D257-E7EAFD4A56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DC499D1-ADFB-E108-085C-50EC5054FE77}"/>
              </a:ext>
            </a:extLst>
          </p:cNvPr>
          <p:cNvGrpSpPr/>
          <p:nvPr/>
        </p:nvGrpSpPr>
        <p:grpSpPr>
          <a:xfrm>
            <a:off x="7283434" y="86650"/>
            <a:ext cx="247030" cy="199282"/>
            <a:chOff x="7346777" y="102322"/>
            <a:chExt cx="247030" cy="19928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430C81-6E86-529C-A0E1-CB9140C59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44BA57F2-3925-B64C-EF1A-B69C8BCC2774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9D4B15-D4B0-81B4-32E9-09A6194F6756}"/>
              </a:ext>
            </a:extLst>
          </p:cNvPr>
          <p:cNvGrpSpPr/>
          <p:nvPr/>
        </p:nvGrpSpPr>
        <p:grpSpPr>
          <a:xfrm>
            <a:off x="232993" y="943445"/>
            <a:ext cx="2197031" cy="277701"/>
            <a:chOff x="201705" y="1219253"/>
            <a:chExt cx="2264507" cy="2777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B1AD089-230D-29A3-02F8-E13BD718E5AC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Search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D159FDE-D61A-9C8E-D796-584D98DA661D}"/>
                </a:ext>
              </a:extLst>
            </p:cNvPr>
            <p:cNvSpPr/>
            <p:nvPr/>
          </p:nvSpPr>
          <p:spPr>
            <a:xfrm>
              <a:off x="887046" y="1222678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CSV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1777EB9-22F5-AFB2-3AB9-E9AB29C0C561}"/>
                </a:ext>
              </a:extLst>
            </p:cNvPr>
            <p:cNvSpPr/>
            <p:nvPr/>
          </p:nvSpPr>
          <p:spPr>
            <a:xfrm>
              <a:off x="1707402" y="1219253"/>
              <a:ext cx="758810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PDF</a:t>
              </a:r>
              <a:endParaRPr lang="th-TH" sz="14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B842323-8327-513E-E81C-07F9348DC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879" y="4728127"/>
            <a:ext cx="1367802" cy="10301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BE645442-124D-C356-2511-BCAEC3F8A9E4}"/>
              </a:ext>
            </a:extLst>
          </p:cNvPr>
          <p:cNvSpPr/>
          <p:nvPr/>
        </p:nvSpPr>
        <p:spPr>
          <a:xfrm>
            <a:off x="7657726" y="5071198"/>
            <a:ext cx="883678" cy="498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✅</a:t>
            </a:r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CD1706-E253-7751-17B6-816D34441C1F}"/>
              </a:ext>
            </a:extLst>
          </p:cNvPr>
          <p:cNvSpPr/>
          <p:nvPr/>
        </p:nvSpPr>
        <p:spPr>
          <a:xfrm>
            <a:off x="433070" y="1767549"/>
            <a:ext cx="3872486" cy="1619274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615D89-B026-3880-07A7-5D6EDFD127B1}"/>
              </a:ext>
            </a:extLst>
          </p:cNvPr>
          <p:cNvSpPr txBox="1"/>
          <p:nvPr/>
        </p:nvSpPr>
        <p:spPr>
          <a:xfrm>
            <a:off x="877514" y="2013790"/>
            <a:ext cx="318959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Approve</a:t>
            </a:r>
          </a:p>
          <a:p>
            <a:pPr algn="ctr"/>
            <a:r>
              <a:rPr lang="en-US" sz="5400" b="1" dirty="0">
                <a:solidFill>
                  <a:srgbClr val="FF0000"/>
                </a:solidFill>
              </a:rPr>
              <a:t>20</a:t>
            </a:r>
            <a:endParaRPr lang="th-TH" sz="5400" b="1" dirty="0">
              <a:solidFill>
                <a:srgbClr val="FF000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EA640DB-E8CF-6F4E-0A32-1B4E57725CB2}"/>
              </a:ext>
            </a:extLst>
          </p:cNvPr>
          <p:cNvSpPr/>
          <p:nvPr/>
        </p:nvSpPr>
        <p:spPr>
          <a:xfrm>
            <a:off x="9381546" y="3029724"/>
            <a:ext cx="2390590" cy="1619274"/>
          </a:xfrm>
          <a:prstGeom prst="rect">
            <a:avLst/>
          </a:prstGeom>
          <a:solidFill>
            <a:srgbClr val="FDF4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0512FE2-3183-AE03-8101-544543323DC9}"/>
              </a:ext>
            </a:extLst>
          </p:cNvPr>
          <p:cNvSpPr txBox="1"/>
          <p:nvPr/>
        </p:nvSpPr>
        <p:spPr>
          <a:xfrm>
            <a:off x="9513540" y="3264739"/>
            <a:ext cx="21300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Pending</a:t>
            </a:r>
          </a:p>
          <a:p>
            <a:pPr algn="ctr"/>
            <a:r>
              <a:rPr lang="en-US" sz="5400" b="1" dirty="0">
                <a:solidFill>
                  <a:srgbClr val="FFC000"/>
                </a:solidFill>
              </a:rPr>
              <a:t>40</a:t>
            </a:r>
            <a:endParaRPr lang="th-TH" sz="5400" b="1" dirty="0">
              <a:solidFill>
                <a:srgbClr val="FFC000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A65720-05AF-F161-EDB0-541C020A168A}"/>
              </a:ext>
            </a:extLst>
          </p:cNvPr>
          <p:cNvSpPr/>
          <p:nvPr/>
        </p:nvSpPr>
        <p:spPr>
          <a:xfrm>
            <a:off x="4571999" y="1798618"/>
            <a:ext cx="4023117" cy="16192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9590C6A-6376-3FAC-5C97-425836251069}"/>
              </a:ext>
            </a:extLst>
          </p:cNvPr>
          <p:cNvSpPr txBox="1"/>
          <p:nvPr/>
        </p:nvSpPr>
        <p:spPr>
          <a:xfrm>
            <a:off x="4714153" y="2033633"/>
            <a:ext cx="358463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Reject</a:t>
            </a:r>
          </a:p>
          <a:p>
            <a:pPr algn="ctr"/>
            <a:r>
              <a:rPr lang="en-US" sz="5400" b="1" dirty="0"/>
              <a:t>20</a:t>
            </a:r>
            <a:endParaRPr lang="th-TH" sz="54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2B56E9-08CF-4C46-7C19-20BE5642E68C}"/>
              </a:ext>
            </a:extLst>
          </p:cNvPr>
          <p:cNvSpPr txBox="1"/>
          <p:nvPr/>
        </p:nvSpPr>
        <p:spPr>
          <a:xfrm>
            <a:off x="219672" y="1314532"/>
            <a:ext cx="32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Security - </a:t>
            </a:r>
            <a:r>
              <a:rPr lang="th-TH" sz="2000" b="1" dirty="0"/>
              <a:t>ระบบรักษาความปลอดภัย</a:t>
            </a:r>
            <a:endParaRPr lang="th-TH" sz="54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81A6D8-1B00-8711-F237-25DFD4C2EF21}"/>
              </a:ext>
            </a:extLst>
          </p:cNvPr>
          <p:cNvGrpSpPr/>
          <p:nvPr/>
        </p:nvGrpSpPr>
        <p:grpSpPr>
          <a:xfrm>
            <a:off x="6025280" y="567261"/>
            <a:ext cx="2566449" cy="5270289"/>
            <a:chOff x="-2993169" y="4970991"/>
            <a:chExt cx="2566449" cy="52702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C4B545-8653-8557-BE7F-3A7B74C5B8DD}"/>
                </a:ext>
              </a:extLst>
            </p:cNvPr>
            <p:cNvSpPr/>
            <p:nvPr/>
          </p:nvSpPr>
          <p:spPr>
            <a:xfrm>
              <a:off x="-2993169" y="5034875"/>
              <a:ext cx="2566449" cy="52064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EA45B-BC6E-8FD8-52DC-5DD74D6F8E0B}"/>
                </a:ext>
              </a:extLst>
            </p:cNvPr>
            <p:cNvSpPr/>
            <p:nvPr/>
          </p:nvSpPr>
          <p:spPr>
            <a:xfrm>
              <a:off x="-2969298" y="4970991"/>
              <a:ext cx="1286679" cy="6256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Notifications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61068F-0714-CB31-8A9A-E475327012FD}"/>
                </a:ext>
              </a:extLst>
            </p:cNvPr>
            <p:cNvSpPr txBox="1"/>
            <p:nvPr/>
          </p:nvSpPr>
          <p:spPr>
            <a:xfrm>
              <a:off x="-2833743" y="5469389"/>
              <a:ext cx="2209799" cy="453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90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-----------------------------------------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Event –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เหตุการณ์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29/10/2025 17:00:00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– </a:t>
              </a:r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สถานีโทรมาตร</a:t>
              </a:r>
            </a:p>
            <a:p>
              <a:r>
                <a:rPr lang="en-US" dirty="0">
                  <a:solidFill>
                    <a:schemeClr val="bg2">
                      <a:lumMod val="90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-----------------------------------------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Event –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เหตุการณ์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29/10/2025 17:00:00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– </a:t>
              </a:r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สถานีโทรมาตร</a:t>
              </a:r>
            </a:p>
            <a:p>
              <a:r>
                <a:rPr lang="en-US" dirty="0">
                  <a:solidFill>
                    <a:schemeClr val="bg2">
                      <a:lumMod val="90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-----------------------------------------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Event –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เหตุการณ์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29/10/2025 17:00:00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– </a:t>
              </a:r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สถานีโทรมาตร</a:t>
              </a:r>
            </a:p>
            <a:p>
              <a:r>
                <a:rPr lang="en-US" dirty="0">
                  <a:solidFill>
                    <a:schemeClr val="bg2">
                      <a:lumMod val="90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-----------------------------------------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Event –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เหตุการณ์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29/10/2025 17:00:00</a:t>
              </a:r>
            </a:p>
            <a:p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 – </a:t>
              </a:r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สถานีโทรมาตร</a:t>
              </a:r>
            </a:p>
            <a:p>
              <a:r>
                <a:rPr lang="th-TH" dirty="0">
                  <a:solidFill>
                    <a:schemeClr val="bg2">
                      <a:lumMod val="90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-----------------------------------------</a:t>
              </a:r>
              <a:endParaRPr lang="en-US" dirty="0">
                <a:solidFill>
                  <a:schemeClr val="bg2">
                    <a:lumMod val="9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endParaRPr lang="en-US" dirty="0">
                <a:solidFill>
                  <a:schemeClr val="bg2">
                    <a:lumMod val="90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B23271-A9E2-D8AD-13D1-8E072EADCF03}"/>
                </a:ext>
              </a:extLst>
            </p:cNvPr>
            <p:cNvSpPr/>
            <p:nvPr/>
          </p:nvSpPr>
          <p:spPr>
            <a:xfrm>
              <a:off x="-834226" y="5079225"/>
              <a:ext cx="345903" cy="409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496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8939</TotalTime>
  <Words>1218</Words>
  <Application>Microsoft Office PowerPoint</Application>
  <PresentationFormat>On-screen Show (16:9)</PresentationFormat>
  <Paragraphs>352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TH Sarabun New</vt:lpstr>
      <vt:lpstr>Office Theme</vt:lpstr>
      <vt:lpstr>Frontend / Public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Pin_Decode</dc:creator>
  <cp:lastModifiedBy>Авирмэд Энхбат</cp:lastModifiedBy>
  <cp:revision>1337</cp:revision>
  <dcterms:created xsi:type="dcterms:W3CDTF">2024-11-14T13:12:03Z</dcterms:created>
  <dcterms:modified xsi:type="dcterms:W3CDTF">2026-04-28T09:00:41Z</dcterms:modified>
</cp:coreProperties>
</file>