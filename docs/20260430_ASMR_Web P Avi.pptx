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21E924-6D84-4121-B5F0-81985058601D}"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8BFEA-E8A1-4CD6-88E0-F4ABA0E05B00}" type="slidenum">
              <a:rPr lang="en-US" smtClean="0"/>
              <a:t>‹#›</a:t>
            </a:fld>
            <a:endParaRPr lang="en-US"/>
          </a:p>
        </p:txBody>
      </p:sp>
    </p:spTree>
    <p:extLst>
      <p:ext uri="{BB962C8B-B14F-4D97-AF65-F5344CB8AC3E}">
        <p14:creationId xmlns:p14="http://schemas.microsoft.com/office/powerpoint/2010/main" val="416559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E8BFEA-E8A1-4CD6-88E0-F4ABA0E05B00}" type="slidenum">
              <a:rPr lang="en-US" smtClean="0"/>
              <a:t>5</a:t>
            </a:fld>
            <a:endParaRPr lang="en-US"/>
          </a:p>
        </p:txBody>
      </p:sp>
    </p:spTree>
    <p:extLst>
      <p:ext uri="{BB962C8B-B14F-4D97-AF65-F5344CB8AC3E}">
        <p14:creationId xmlns:p14="http://schemas.microsoft.com/office/powerpoint/2010/main" val="1313184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6BB8-52A7-FB3E-639C-BF6CF724E7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783364-8BC8-F6C1-11E8-51FF9A668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021F97-8BA2-0E1B-548E-5708B43A397D}"/>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5" name="Footer Placeholder 4">
            <a:extLst>
              <a:ext uri="{FF2B5EF4-FFF2-40B4-BE49-F238E27FC236}">
                <a16:creationId xmlns:a16="http://schemas.microsoft.com/office/drawing/2014/main" id="{9B2CFFE0-AA08-3758-61D8-88550D03F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A57B41-E6AD-5C50-74CD-7D1935EBFB8E}"/>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194078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5CF2-EBFC-98C8-D93C-E47B81ABA0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B9A759-0027-EF6C-0C8F-258F895EA6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C0A1D-EF0E-4BBA-654E-65BFA6FC3B31}"/>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5" name="Footer Placeholder 4">
            <a:extLst>
              <a:ext uri="{FF2B5EF4-FFF2-40B4-BE49-F238E27FC236}">
                <a16:creationId xmlns:a16="http://schemas.microsoft.com/office/drawing/2014/main" id="{C1F935AB-ACFE-2A26-091B-9DB693EA09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B8FB2E-66C3-ECBF-186E-DC3A7E139490}"/>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3872932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2FDAD-779E-3708-F632-9F7182E22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81142F-7F22-B4AA-D326-8301D01E0A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5BA2D5-13B6-9CE3-CB32-E14553BC08FC}"/>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5" name="Footer Placeholder 4">
            <a:extLst>
              <a:ext uri="{FF2B5EF4-FFF2-40B4-BE49-F238E27FC236}">
                <a16:creationId xmlns:a16="http://schemas.microsoft.com/office/drawing/2014/main" id="{F00FE722-B721-EFE7-E75A-A7C99C27E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C93EF-A59A-01E7-37E0-F94E2532A610}"/>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597307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B8D20-D7B1-8EA4-C27D-11A870C390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DA7934-CBD8-5CEB-4BAF-00F84EC770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CAE383-DEF1-A746-D2D8-7C6A4A6E48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D41C9F-B601-FFA5-C96E-68B8835E48AA}"/>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6" name="Footer Placeholder 5">
            <a:extLst>
              <a:ext uri="{FF2B5EF4-FFF2-40B4-BE49-F238E27FC236}">
                <a16:creationId xmlns:a16="http://schemas.microsoft.com/office/drawing/2014/main" id="{EBF3174B-26C4-96F0-7DEF-FC4DB9FEB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680B64-CE10-4284-5DB6-3B77C77BBD07}"/>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1575905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D2459-1D46-BC8A-88CE-39291C2E61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DFD1FD-9B53-108A-BA04-229EC5FD84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35A7FD-5C67-8BF2-E64E-666BDDACEE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1949B3-F2AA-308C-7AA4-5F080A8404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6FBEFC-DE7B-07AD-B24B-31FB1D98EC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47B187-D069-6A50-D1B1-DEAE62DBDF41}"/>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8" name="Footer Placeholder 7">
            <a:extLst>
              <a:ext uri="{FF2B5EF4-FFF2-40B4-BE49-F238E27FC236}">
                <a16:creationId xmlns:a16="http://schemas.microsoft.com/office/drawing/2014/main" id="{1D95858C-6F05-72C8-4677-A8D86C3397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5C11BB-C184-6878-7D8D-5A2FBA071086}"/>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36313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8B84-9855-48EB-F592-4D15105A9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49F306-9243-3DB7-325E-EDF3C2E90A92}"/>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4" name="Footer Placeholder 3">
            <a:extLst>
              <a:ext uri="{FF2B5EF4-FFF2-40B4-BE49-F238E27FC236}">
                <a16:creationId xmlns:a16="http://schemas.microsoft.com/office/drawing/2014/main" id="{D26201E2-D74F-924F-D2F5-53D09B3E90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92A771-B1FB-9DEA-1B60-E6F4A689C275}"/>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205995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C98B1D-2F1F-37A1-C56B-F7F615DB6943}"/>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3" name="Footer Placeholder 2">
            <a:extLst>
              <a:ext uri="{FF2B5EF4-FFF2-40B4-BE49-F238E27FC236}">
                <a16:creationId xmlns:a16="http://schemas.microsoft.com/office/drawing/2014/main" id="{33830EE0-67A8-13B8-A2E1-48A40C8218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313F19-3559-9BA3-D46F-799FBFA0AA8D}"/>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1481295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312B-A235-1FF3-A224-0319DDCCAA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E21708-CDBC-9390-10CE-E21FF6A48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C9FC4F-CA0C-EB22-AEC9-B5B2FDC36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98108D-13D7-A939-2EAF-50B874D2971B}"/>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6" name="Footer Placeholder 5">
            <a:extLst>
              <a:ext uri="{FF2B5EF4-FFF2-40B4-BE49-F238E27FC236}">
                <a16:creationId xmlns:a16="http://schemas.microsoft.com/office/drawing/2014/main" id="{E4F76BCB-2AE2-A76A-BD23-DA8F037798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2389F-4E82-95B3-151A-1C17FA09395B}"/>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100080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ED48A-2A6A-D652-D03E-624450285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EB41AA-77E9-87AC-F6DB-F12830EAD3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219A60-6984-1978-0CAF-6CAFA229B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1693A2-9C06-E28A-3DFD-4EA21E41E421}"/>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6" name="Footer Placeholder 5">
            <a:extLst>
              <a:ext uri="{FF2B5EF4-FFF2-40B4-BE49-F238E27FC236}">
                <a16:creationId xmlns:a16="http://schemas.microsoft.com/office/drawing/2014/main" id="{6E5AC2A6-06A0-D68F-F293-3444A5E035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696C8D-D5DB-2068-C5E8-3362221C99C9}"/>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410568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91C81-3469-01B5-5D01-09E0A600A1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CD84FC-3BD3-574E-C811-0F5937E55A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A93CE-8A00-6611-459B-6EC7FB662ADC}"/>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5" name="Footer Placeholder 4">
            <a:extLst>
              <a:ext uri="{FF2B5EF4-FFF2-40B4-BE49-F238E27FC236}">
                <a16:creationId xmlns:a16="http://schemas.microsoft.com/office/drawing/2014/main" id="{7B0D9F18-7886-FC01-AC73-CD8EE981E7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B91011-3C0A-9AEB-4BDB-13342A1BD856}"/>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3337981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B9601E-88A5-61C2-B4D2-F8A5B8EDF1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CF35CA-F04D-8CA2-8638-5308DF5CF7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CA3618-082B-823A-243B-7744BA788A1D}"/>
              </a:ext>
            </a:extLst>
          </p:cNvPr>
          <p:cNvSpPr>
            <a:spLocks noGrp="1"/>
          </p:cNvSpPr>
          <p:nvPr>
            <p:ph type="dt" sz="half" idx="10"/>
          </p:nvPr>
        </p:nvSpPr>
        <p:spPr/>
        <p:txBody>
          <a:bodyPr/>
          <a:lstStyle/>
          <a:p>
            <a:fld id="{8120CA0E-4244-4F1B-950E-E498F34AD667}" type="datetimeFigureOut">
              <a:rPr lang="en-US" smtClean="0"/>
              <a:t>5/5/2026</a:t>
            </a:fld>
            <a:endParaRPr lang="en-US"/>
          </a:p>
        </p:txBody>
      </p:sp>
      <p:sp>
        <p:nvSpPr>
          <p:cNvPr id="5" name="Footer Placeholder 4">
            <a:extLst>
              <a:ext uri="{FF2B5EF4-FFF2-40B4-BE49-F238E27FC236}">
                <a16:creationId xmlns:a16="http://schemas.microsoft.com/office/drawing/2014/main" id="{EF18F924-47B0-6FA8-2ACD-8787FA6BF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AB7E6-A9DB-298B-9F43-28749E85AC2D}"/>
              </a:ext>
            </a:extLst>
          </p:cNvPr>
          <p:cNvSpPr>
            <a:spLocks noGrp="1"/>
          </p:cNvSpPr>
          <p:nvPr>
            <p:ph type="sldNum" sz="quarter" idx="12"/>
          </p:nvPr>
        </p:nvSpPr>
        <p:spPr/>
        <p:txBody>
          <a:bodyPr/>
          <a:lstStyle/>
          <a:p>
            <a:fld id="{521BED7B-C4A0-4F2E-B8C4-FC9CA2883D5A}" type="slidenum">
              <a:rPr lang="en-US" smtClean="0"/>
              <a:t>‹#›</a:t>
            </a:fld>
            <a:endParaRPr lang="en-US"/>
          </a:p>
        </p:txBody>
      </p:sp>
    </p:spTree>
    <p:extLst>
      <p:ext uri="{BB962C8B-B14F-4D97-AF65-F5344CB8AC3E}">
        <p14:creationId xmlns:p14="http://schemas.microsoft.com/office/powerpoint/2010/main" val="1398020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10B3A9-FA63-47DE-6C9F-43A7BABB7F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535DF2-AE05-A12F-44BB-42F96CEBC2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F7515-1C65-B41B-B660-0FFF7F0F4F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20CA0E-4244-4F1B-950E-E498F34AD667}" type="datetimeFigureOut">
              <a:rPr lang="en-US" smtClean="0"/>
              <a:t>5/5/2026</a:t>
            </a:fld>
            <a:endParaRPr lang="en-US"/>
          </a:p>
        </p:txBody>
      </p:sp>
      <p:sp>
        <p:nvSpPr>
          <p:cNvPr id="5" name="Footer Placeholder 4">
            <a:extLst>
              <a:ext uri="{FF2B5EF4-FFF2-40B4-BE49-F238E27FC236}">
                <a16:creationId xmlns:a16="http://schemas.microsoft.com/office/drawing/2014/main" id="{0228C74E-1EB9-792F-8388-8080D623DB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DB892D-B7B8-893F-9E6D-3AE9513C75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BED7B-C4A0-4F2E-B8C4-FC9CA2883D5A}" type="slidenum">
              <a:rPr lang="en-US" smtClean="0"/>
              <a:t>‹#›</a:t>
            </a:fld>
            <a:endParaRPr lang="en-US"/>
          </a:p>
        </p:txBody>
      </p:sp>
    </p:spTree>
    <p:extLst>
      <p:ext uri="{BB962C8B-B14F-4D97-AF65-F5344CB8AC3E}">
        <p14:creationId xmlns:p14="http://schemas.microsoft.com/office/powerpoint/2010/main" val="1972402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DD57FC-6368-AE8E-AAB0-53FE39E45878}"/>
              </a:ext>
            </a:extLst>
          </p:cNvPr>
          <p:cNvPicPr>
            <a:picLocks noChangeAspect="1"/>
          </p:cNvPicPr>
          <p:nvPr/>
        </p:nvPicPr>
        <p:blipFill>
          <a:blip r:embed="rId2"/>
          <a:stretch>
            <a:fillRect/>
          </a:stretch>
        </p:blipFill>
        <p:spPr>
          <a:xfrm>
            <a:off x="1" y="0"/>
            <a:ext cx="9688432" cy="4145872"/>
          </a:xfrm>
          <a:prstGeom prst="rect">
            <a:avLst/>
          </a:prstGeom>
        </p:spPr>
      </p:pic>
      <p:sp>
        <p:nvSpPr>
          <p:cNvPr id="8" name="TextBox 7">
            <a:extLst>
              <a:ext uri="{FF2B5EF4-FFF2-40B4-BE49-F238E27FC236}">
                <a16:creationId xmlns:a16="http://schemas.microsoft.com/office/drawing/2014/main" id="{017F99A1-B903-9965-6C61-2AB514135528}"/>
              </a:ext>
            </a:extLst>
          </p:cNvPr>
          <p:cNvSpPr txBox="1"/>
          <p:nvPr/>
        </p:nvSpPr>
        <p:spPr>
          <a:xfrm>
            <a:off x="0" y="5455491"/>
            <a:ext cx="1219200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API will be use when we use API to get Rain Data from Station Sensor or Station RTU devices. Key will be the values that we choose listing from our database to send. Can you create a </a:t>
            </a:r>
            <a:r>
              <a:rPr lang="en-US" b="1" dirty="0">
                <a:latin typeface="Arial" panose="020B0604020202020204" pitchFamily="34" charset="0"/>
                <a:cs typeface="Arial" panose="020B0604020202020204" pitchFamily="34" charset="0"/>
              </a:rPr>
              <a:t>service</a:t>
            </a:r>
            <a:r>
              <a:rPr lang="en-US" dirty="0">
                <a:latin typeface="Arial" panose="020B0604020202020204" pitchFamily="34" charset="0"/>
                <a:cs typeface="Arial" panose="020B0604020202020204" pitchFamily="34" charset="0"/>
              </a:rPr>
              <a:t> that collect data and save to database from Station? </a:t>
            </a:r>
          </a:p>
        </p:txBody>
      </p:sp>
      <p:sp>
        <p:nvSpPr>
          <p:cNvPr id="10" name="Rectangle: Rounded Corners 9">
            <a:extLst>
              <a:ext uri="{FF2B5EF4-FFF2-40B4-BE49-F238E27FC236}">
                <a16:creationId xmlns:a16="http://schemas.microsoft.com/office/drawing/2014/main" id="{630AA3CC-4DBE-094C-A3E2-B75D704F71FF}"/>
              </a:ext>
            </a:extLst>
          </p:cNvPr>
          <p:cNvSpPr/>
          <p:nvPr/>
        </p:nvSpPr>
        <p:spPr>
          <a:xfrm>
            <a:off x="284085" y="2814221"/>
            <a:ext cx="4492101" cy="61477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00DA7143-48AC-FAB2-260E-E6BD5190ABB2}"/>
              </a:ext>
            </a:extLst>
          </p:cNvPr>
          <p:cNvCxnSpPr>
            <a:stCxn id="10" idx="2"/>
          </p:cNvCxnSpPr>
          <p:nvPr/>
        </p:nvCxnSpPr>
        <p:spPr>
          <a:xfrm flipH="1">
            <a:off x="2503567" y="3429000"/>
            <a:ext cx="26569" cy="11518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1671BFF2-E681-A472-507E-CE1B43E74465}"/>
              </a:ext>
            </a:extLst>
          </p:cNvPr>
          <p:cNvSpPr/>
          <p:nvPr/>
        </p:nvSpPr>
        <p:spPr>
          <a:xfrm>
            <a:off x="1398294" y="4573194"/>
            <a:ext cx="2241552" cy="32522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FF0000"/>
                </a:solidFill>
                <a:latin typeface="Arial" panose="020B0604020202020204" pitchFamily="34" charset="0"/>
                <a:cs typeface="Arial" panose="020B0604020202020204" pitchFamily="34" charset="0"/>
              </a:rPr>
              <a:t>eg</a:t>
            </a:r>
            <a:r>
              <a:rPr lang="en-US" sz="1200" dirty="0">
                <a:solidFill>
                  <a:srgbClr val="FF0000"/>
                </a:solidFill>
                <a:latin typeface="Arial" panose="020B0604020202020204" pitchFamily="34" charset="0"/>
                <a:cs typeface="Arial" panose="020B0604020202020204" pitchFamily="34" charset="0"/>
              </a:rPr>
              <a:t> ; </a:t>
            </a:r>
            <a:r>
              <a:rPr lang="en-US" sz="1200" dirty="0" err="1">
                <a:solidFill>
                  <a:srgbClr val="FF0000"/>
                </a:solidFill>
                <a:latin typeface="Arial" panose="020B0604020202020204" pitchFamily="34" charset="0"/>
                <a:cs typeface="Arial" panose="020B0604020202020204" pitchFamily="34" charset="0"/>
              </a:rPr>
              <a:t>Date&amp;Time</a:t>
            </a:r>
            <a:r>
              <a:rPr lang="en-US" sz="1200" dirty="0">
                <a:solidFill>
                  <a:srgbClr val="FF0000"/>
                </a:solidFill>
                <a:latin typeface="Arial" panose="020B0604020202020204" pitchFamily="34" charset="0"/>
                <a:cs typeface="Arial" panose="020B0604020202020204" pitchFamily="34" charset="0"/>
              </a:rPr>
              <a:t>, WL, Rain</a:t>
            </a:r>
          </a:p>
        </p:txBody>
      </p:sp>
      <p:sp>
        <p:nvSpPr>
          <p:cNvPr id="17" name="Rectangle: Rounded Corners 16">
            <a:extLst>
              <a:ext uri="{FF2B5EF4-FFF2-40B4-BE49-F238E27FC236}">
                <a16:creationId xmlns:a16="http://schemas.microsoft.com/office/drawing/2014/main" id="{120F215D-4F08-AFA6-C75B-3E54843E7B21}"/>
              </a:ext>
            </a:extLst>
          </p:cNvPr>
          <p:cNvSpPr/>
          <p:nvPr/>
        </p:nvSpPr>
        <p:spPr>
          <a:xfrm>
            <a:off x="204186" y="1686757"/>
            <a:ext cx="4572000" cy="102981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427DD57-1C34-DC5A-E120-5D873B6384C9}"/>
              </a:ext>
            </a:extLst>
          </p:cNvPr>
          <p:cNvSpPr/>
          <p:nvPr/>
        </p:nvSpPr>
        <p:spPr>
          <a:xfrm>
            <a:off x="4870109" y="2228296"/>
            <a:ext cx="4572000" cy="48827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A86BF561-F928-7F98-2861-6B378A739792}"/>
              </a:ext>
            </a:extLst>
          </p:cNvPr>
          <p:cNvSpPr/>
          <p:nvPr/>
        </p:nvSpPr>
        <p:spPr>
          <a:xfrm>
            <a:off x="9815804" y="1686757"/>
            <a:ext cx="2241552" cy="32522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latin typeface="Arial" panose="020B0604020202020204" pitchFamily="34" charset="0"/>
                <a:cs typeface="Arial" panose="020B0604020202020204" pitchFamily="34" charset="0"/>
              </a:rPr>
              <a:t>Customer Side provide</a:t>
            </a:r>
          </a:p>
        </p:txBody>
      </p:sp>
      <p:cxnSp>
        <p:nvCxnSpPr>
          <p:cNvPr id="23" name="Connector: Elbow 22">
            <a:extLst>
              <a:ext uri="{FF2B5EF4-FFF2-40B4-BE49-F238E27FC236}">
                <a16:creationId xmlns:a16="http://schemas.microsoft.com/office/drawing/2014/main" id="{FAF7F596-AD13-F9A8-8036-B2DA644706F3}"/>
              </a:ext>
            </a:extLst>
          </p:cNvPr>
          <p:cNvCxnSpPr>
            <a:endCxn id="19" idx="1"/>
          </p:cNvCxnSpPr>
          <p:nvPr/>
        </p:nvCxnSpPr>
        <p:spPr>
          <a:xfrm flipV="1">
            <a:off x="4776186" y="1849371"/>
            <a:ext cx="5039618" cy="35229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35E00910-B867-A606-505E-B690F44CC6B4}"/>
              </a:ext>
            </a:extLst>
          </p:cNvPr>
          <p:cNvCxnSpPr>
            <a:stCxn id="18" idx="3"/>
            <a:endCxn id="19" idx="1"/>
          </p:cNvCxnSpPr>
          <p:nvPr/>
        </p:nvCxnSpPr>
        <p:spPr>
          <a:xfrm flipV="1">
            <a:off x="9442109" y="1849371"/>
            <a:ext cx="373695" cy="62306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784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1EF157-570E-61BD-636B-7DB375E7B946}"/>
              </a:ext>
            </a:extLst>
          </p:cNvPr>
          <p:cNvPicPr>
            <a:picLocks noChangeAspect="1"/>
          </p:cNvPicPr>
          <p:nvPr/>
        </p:nvPicPr>
        <p:blipFill>
          <a:blip r:embed="rId2"/>
          <a:stretch>
            <a:fillRect/>
          </a:stretch>
        </p:blipFill>
        <p:spPr>
          <a:xfrm>
            <a:off x="1" y="1"/>
            <a:ext cx="6851248" cy="3169327"/>
          </a:xfrm>
          <a:prstGeom prst="rect">
            <a:avLst/>
          </a:prstGeom>
        </p:spPr>
      </p:pic>
      <p:sp>
        <p:nvSpPr>
          <p:cNvPr id="4" name="TextBox 3">
            <a:extLst>
              <a:ext uri="{FF2B5EF4-FFF2-40B4-BE49-F238E27FC236}">
                <a16:creationId xmlns:a16="http://schemas.microsoft.com/office/drawing/2014/main" id="{0DDA590A-2D73-93AA-7EBF-D045B3754944}"/>
              </a:ext>
            </a:extLst>
          </p:cNvPr>
          <p:cNvSpPr txBox="1"/>
          <p:nvPr/>
        </p:nvSpPr>
        <p:spPr>
          <a:xfrm>
            <a:off x="150920" y="5513034"/>
            <a:ext cx="11890159"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This is also use for send .csv to destinated (customer) server using FTP from our server. Currently in ASMR demo, P Wisnu save data as .csv and not sure if he will keep generate and save in .csv . Can you create a </a:t>
            </a:r>
            <a:r>
              <a:rPr lang="en-US" b="1" dirty="0">
                <a:latin typeface="Arial" panose="020B0604020202020204" pitchFamily="34" charset="0"/>
                <a:cs typeface="Arial" panose="020B0604020202020204" pitchFamily="34" charset="0"/>
              </a:rPr>
              <a:t>service </a:t>
            </a:r>
            <a:r>
              <a:rPr lang="en-US" dirty="0">
                <a:latin typeface="Arial" panose="020B0604020202020204" pitchFamily="34" charset="0"/>
                <a:cs typeface="Arial" panose="020B0604020202020204" pitchFamily="34" charset="0"/>
              </a:rPr>
              <a:t>to send .csv to using FTP ? and if P Wisnu not save in .csv, will need to include .csv generator to csv in service.</a:t>
            </a:r>
          </a:p>
        </p:txBody>
      </p:sp>
      <p:pic>
        <p:nvPicPr>
          <p:cNvPr id="6" name="Picture 5">
            <a:extLst>
              <a:ext uri="{FF2B5EF4-FFF2-40B4-BE49-F238E27FC236}">
                <a16:creationId xmlns:a16="http://schemas.microsoft.com/office/drawing/2014/main" id="{61BD951D-96BF-9282-1429-98812CEA94E5}"/>
              </a:ext>
            </a:extLst>
          </p:cNvPr>
          <p:cNvPicPr>
            <a:picLocks noChangeAspect="1"/>
          </p:cNvPicPr>
          <p:nvPr/>
        </p:nvPicPr>
        <p:blipFill>
          <a:blip r:embed="rId3"/>
          <a:stretch>
            <a:fillRect/>
          </a:stretch>
        </p:blipFill>
        <p:spPr>
          <a:xfrm>
            <a:off x="5302230" y="1485864"/>
            <a:ext cx="6889770" cy="3987368"/>
          </a:xfrm>
          <a:prstGeom prst="rect">
            <a:avLst/>
          </a:prstGeom>
        </p:spPr>
      </p:pic>
      <p:sp>
        <p:nvSpPr>
          <p:cNvPr id="7" name="Rectangle: Rounded Corners 6">
            <a:extLst>
              <a:ext uri="{FF2B5EF4-FFF2-40B4-BE49-F238E27FC236}">
                <a16:creationId xmlns:a16="http://schemas.microsoft.com/office/drawing/2014/main" id="{B24A6339-1537-3A57-9C61-55F1674BCB8A}"/>
              </a:ext>
            </a:extLst>
          </p:cNvPr>
          <p:cNvSpPr/>
          <p:nvPr/>
        </p:nvSpPr>
        <p:spPr>
          <a:xfrm>
            <a:off x="6283078" y="1950942"/>
            <a:ext cx="792425" cy="304541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82523068-543D-7FF1-B102-8C6317BAA54E}"/>
              </a:ext>
            </a:extLst>
          </p:cNvPr>
          <p:cNvSpPr/>
          <p:nvPr/>
        </p:nvSpPr>
        <p:spPr>
          <a:xfrm>
            <a:off x="413474" y="3360776"/>
            <a:ext cx="2543392" cy="32522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rgbClr val="FF0000"/>
                </a:solidFill>
                <a:latin typeface="Arial" panose="020B0604020202020204" pitchFamily="34" charset="0"/>
                <a:cs typeface="Arial" panose="020B0604020202020204" pitchFamily="34" charset="0"/>
              </a:rPr>
              <a:t>eg</a:t>
            </a:r>
            <a:r>
              <a:rPr lang="en-US" sz="1200" dirty="0">
                <a:solidFill>
                  <a:srgbClr val="FF0000"/>
                </a:solidFill>
                <a:latin typeface="Arial" panose="020B0604020202020204" pitchFamily="34" charset="0"/>
                <a:cs typeface="Arial" panose="020B0604020202020204" pitchFamily="34" charset="0"/>
              </a:rPr>
              <a:t> ; .csv save in a specific path</a:t>
            </a:r>
          </a:p>
        </p:txBody>
      </p:sp>
      <p:cxnSp>
        <p:nvCxnSpPr>
          <p:cNvPr id="10" name="Straight Arrow Connector 9">
            <a:extLst>
              <a:ext uri="{FF2B5EF4-FFF2-40B4-BE49-F238E27FC236}">
                <a16:creationId xmlns:a16="http://schemas.microsoft.com/office/drawing/2014/main" id="{E14425F1-E61F-AAC1-22D4-A39A4F4C8032}"/>
              </a:ext>
            </a:extLst>
          </p:cNvPr>
          <p:cNvCxnSpPr>
            <a:cxnSpLocks/>
            <a:stCxn id="7" idx="1"/>
            <a:endCxn id="8" idx="3"/>
          </p:cNvCxnSpPr>
          <p:nvPr/>
        </p:nvCxnSpPr>
        <p:spPr>
          <a:xfrm flipH="1">
            <a:off x="2956866" y="3473650"/>
            <a:ext cx="3326212" cy="49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685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6A75A7-67E3-2D4C-65BC-B76A84CA743F}"/>
              </a:ext>
            </a:extLst>
          </p:cNvPr>
          <p:cNvPicPr>
            <a:picLocks noChangeAspect="1"/>
          </p:cNvPicPr>
          <p:nvPr/>
        </p:nvPicPr>
        <p:blipFill>
          <a:blip r:embed="rId2"/>
          <a:stretch>
            <a:fillRect/>
          </a:stretch>
        </p:blipFill>
        <p:spPr>
          <a:xfrm>
            <a:off x="1" y="0"/>
            <a:ext cx="7901126" cy="3463507"/>
          </a:xfrm>
          <a:prstGeom prst="rect">
            <a:avLst/>
          </a:prstGeom>
        </p:spPr>
      </p:pic>
      <p:sp>
        <p:nvSpPr>
          <p:cNvPr id="4" name="TextBox 3">
            <a:extLst>
              <a:ext uri="{FF2B5EF4-FFF2-40B4-BE49-F238E27FC236}">
                <a16:creationId xmlns:a16="http://schemas.microsoft.com/office/drawing/2014/main" id="{933F700E-17BA-7212-39B7-CA0632454016}"/>
              </a:ext>
            </a:extLst>
          </p:cNvPr>
          <p:cNvSpPr txBox="1"/>
          <p:nvPr/>
        </p:nvSpPr>
        <p:spPr>
          <a:xfrm>
            <a:off x="0" y="5233549"/>
            <a:ext cx="1219200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Please create a backend service with logic when new data hits our DB, the backend must map our values to those UI Keys. Format the timestamp and construct the URL string. This needs to trigger automatically in the background. Please include a log of the full URL sent and the server response code so I can track successes/failures.</a:t>
            </a:r>
          </a:p>
        </p:txBody>
      </p:sp>
      <p:sp>
        <p:nvSpPr>
          <p:cNvPr id="5" name="TextBox 72">
            <a:extLst>
              <a:ext uri="{FF2B5EF4-FFF2-40B4-BE49-F238E27FC236}">
                <a16:creationId xmlns:a16="http://schemas.microsoft.com/office/drawing/2014/main" id="{54B6CAF4-BC54-962A-BD6D-0DF968F3E369}"/>
              </a:ext>
            </a:extLst>
          </p:cNvPr>
          <p:cNvSpPr txBox="1"/>
          <p:nvPr/>
        </p:nvSpPr>
        <p:spPr>
          <a:xfrm>
            <a:off x="310717" y="3844080"/>
            <a:ext cx="5291092" cy="338554"/>
          </a:xfrm>
          <a:prstGeom prst="rect">
            <a:avLst/>
          </a:prstGeom>
          <a:noFill/>
        </p:spPr>
        <p:txBody>
          <a:bodyPr wrap="square" rtlCol="0">
            <a:spAutoFit/>
          </a:bodyPr>
          <a:lstStyle/>
          <a:p>
            <a:r>
              <a:rPr lang="th-TH" sz="1600" dirty="0">
                <a:solidFill>
                  <a:srgbClr val="FF0000"/>
                </a:solidFill>
                <a:latin typeface="TH Sarabun New" panose="020B0500040200020003" pitchFamily="34" charset="-34"/>
                <a:cs typeface="TH Sarabun New" panose="020B0500040200020003" pitchFamily="34" charset="-34"/>
              </a:rPr>
              <a:t>ตัวอย่าง </a:t>
            </a:r>
            <a:r>
              <a:rPr lang="en-US" sz="1600" dirty="0">
                <a:solidFill>
                  <a:srgbClr val="FF0000"/>
                </a:solidFill>
                <a:latin typeface="TH Sarabun New" panose="020B0500040200020003" pitchFamily="34" charset="-34"/>
                <a:cs typeface="TH Sarabun New" panose="020B0500040200020003" pitchFamily="34" charset="-34"/>
              </a:rPr>
              <a:t>HYDRO=1&amp;SITE=P.73&amp;BASIN=5&amp;WL=1.23&amp;RF=1.23&amp;DT=202410120930</a:t>
            </a:r>
          </a:p>
        </p:txBody>
      </p:sp>
    </p:spTree>
    <p:extLst>
      <p:ext uri="{BB962C8B-B14F-4D97-AF65-F5344CB8AC3E}">
        <p14:creationId xmlns:p14="http://schemas.microsoft.com/office/powerpoint/2010/main" val="445806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024C19-F3EC-ABD6-2115-7BB5DEC4C2B4}"/>
              </a:ext>
            </a:extLst>
          </p:cNvPr>
          <p:cNvPicPr>
            <a:picLocks noChangeAspect="1"/>
          </p:cNvPicPr>
          <p:nvPr/>
        </p:nvPicPr>
        <p:blipFill>
          <a:blip r:embed="rId2"/>
          <a:stretch>
            <a:fillRect/>
          </a:stretch>
        </p:blipFill>
        <p:spPr>
          <a:xfrm>
            <a:off x="0" y="1"/>
            <a:ext cx="8409642" cy="4666890"/>
          </a:xfrm>
          <a:prstGeom prst="rect">
            <a:avLst/>
          </a:prstGeom>
        </p:spPr>
      </p:pic>
      <p:sp>
        <p:nvSpPr>
          <p:cNvPr id="9" name="TextBox 8">
            <a:extLst>
              <a:ext uri="{FF2B5EF4-FFF2-40B4-BE49-F238E27FC236}">
                <a16:creationId xmlns:a16="http://schemas.microsoft.com/office/drawing/2014/main" id="{235B4189-CE52-E1A4-9F2A-EA4C5421D57E}"/>
              </a:ext>
            </a:extLst>
          </p:cNvPr>
          <p:cNvSpPr txBox="1"/>
          <p:nvPr/>
        </p:nvSpPr>
        <p:spPr>
          <a:xfrm>
            <a:off x="221551" y="4746782"/>
            <a:ext cx="6775316" cy="369332"/>
          </a:xfrm>
          <a:prstGeom prst="rect">
            <a:avLst/>
          </a:prstGeom>
          <a:noFill/>
        </p:spPr>
        <p:txBody>
          <a:bodyPr wrap="none" rtlCol="0">
            <a:spAutoFit/>
          </a:bodyPr>
          <a:lstStyle/>
          <a:p>
            <a:r>
              <a:rPr lang="en-US" dirty="0"/>
              <a:t>rtsp://admin:decode123@147.30.93.37:554/Streaming/Channels/101</a:t>
            </a:r>
          </a:p>
        </p:txBody>
      </p:sp>
      <p:sp>
        <p:nvSpPr>
          <p:cNvPr id="10" name="Rectangle: Rounded Corners 9">
            <a:extLst>
              <a:ext uri="{FF2B5EF4-FFF2-40B4-BE49-F238E27FC236}">
                <a16:creationId xmlns:a16="http://schemas.microsoft.com/office/drawing/2014/main" id="{4BB6BC00-40CF-D4E4-33A2-6889FEBB7ED9}"/>
              </a:ext>
            </a:extLst>
          </p:cNvPr>
          <p:cNvSpPr/>
          <p:nvPr/>
        </p:nvSpPr>
        <p:spPr>
          <a:xfrm>
            <a:off x="146649" y="1966823"/>
            <a:ext cx="836762"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0773A9E-B227-17DB-BFC1-793B5804AE60}"/>
              </a:ext>
            </a:extLst>
          </p:cNvPr>
          <p:cNvSpPr/>
          <p:nvPr/>
        </p:nvSpPr>
        <p:spPr>
          <a:xfrm>
            <a:off x="146649" y="2455815"/>
            <a:ext cx="836762"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E8C572F-A142-158F-7355-419F6B0A5E6B}"/>
              </a:ext>
            </a:extLst>
          </p:cNvPr>
          <p:cNvSpPr/>
          <p:nvPr/>
        </p:nvSpPr>
        <p:spPr>
          <a:xfrm>
            <a:off x="2864449" y="2455814"/>
            <a:ext cx="836762" cy="448573"/>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E22096F-AC0E-5532-AA1A-ED026CFFE9DF}"/>
              </a:ext>
            </a:extLst>
          </p:cNvPr>
          <p:cNvSpPr/>
          <p:nvPr/>
        </p:nvSpPr>
        <p:spPr>
          <a:xfrm>
            <a:off x="5598106" y="2455814"/>
            <a:ext cx="836762" cy="448573"/>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489FA5F2-E830-7510-69CB-8A1CB8E25316}"/>
              </a:ext>
            </a:extLst>
          </p:cNvPr>
          <p:cNvSpPr/>
          <p:nvPr/>
        </p:nvSpPr>
        <p:spPr>
          <a:xfrm>
            <a:off x="139460" y="2904712"/>
            <a:ext cx="836762"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55BCF86-2493-458F-555D-A7EFFD6BF772}"/>
              </a:ext>
            </a:extLst>
          </p:cNvPr>
          <p:cNvSpPr/>
          <p:nvPr/>
        </p:nvSpPr>
        <p:spPr>
          <a:xfrm>
            <a:off x="825500" y="4744727"/>
            <a:ext cx="673100" cy="369332"/>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D23C5040-AF86-E6D7-EC81-B846A04FEC53}"/>
              </a:ext>
            </a:extLst>
          </p:cNvPr>
          <p:cNvSpPr/>
          <p:nvPr/>
        </p:nvSpPr>
        <p:spPr>
          <a:xfrm>
            <a:off x="1554072" y="4744727"/>
            <a:ext cx="1068478" cy="369332"/>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0CF3292C-95F1-21AE-4F10-0E48C5BFCA6C}"/>
              </a:ext>
            </a:extLst>
          </p:cNvPr>
          <p:cNvSpPr/>
          <p:nvPr/>
        </p:nvSpPr>
        <p:spPr>
          <a:xfrm>
            <a:off x="2798672" y="4753079"/>
            <a:ext cx="1220878"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8041F2D6-3638-8CCD-D4AA-A75849D1B37C}"/>
              </a:ext>
            </a:extLst>
          </p:cNvPr>
          <p:cNvSpPr/>
          <p:nvPr/>
        </p:nvSpPr>
        <p:spPr>
          <a:xfrm>
            <a:off x="4019550" y="4757427"/>
            <a:ext cx="470739"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4F2CEFC7-272F-F31C-4711-31599C70839C}"/>
              </a:ext>
            </a:extLst>
          </p:cNvPr>
          <p:cNvSpPr/>
          <p:nvPr/>
        </p:nvSpPr>
        <p:spPr>
          <a:xfrm>
            <a:off x="6437207" y="4753079"/>
            <a:ext cx="470739"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9F3C1C98-BD94-4935-E2E3-2F6B5D5E0DF5}"/>
              </a:ext>
            </a:extLst>
          </p:cNvPr>
          <p:cNvSpPr/>
          <p:nvPr/>
        </p:nvSpPr>
        <p:spPr>
          <a:xfrm>
            <a:off x="221551" y="4736137"/>
            <a:ext cx="515028"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Connector: Elbow 38">
            <a:extLst>
              <a:ext uri="{FF2B5EF4-FFF2-40B4-BE49-F238E27FC236}">
                <a16:creationId xmlns:a16="http://schemas.microsoft.com/office/drawing/2014/main" id="{705A5BE0-DE98-8A0F-6835-6DA6E1CEEDAE}"/>
              </a:ext>
            </a:extLst>
          </p:cNvPr>
          <p:cNvCxnSpPr>
            <a:cxnSpLocks/>
            <a:stCxn id="10" idx="3"/>
          </p:cNvCxnSpPr>
          <p:nvPr/>
        </p:nvCxnSpPr>
        <p:spPr>
          <a:xfrm>
            <a:off x="983411" y="2191110"/>
            <a:ext cx="2425700" cy="1618890"/>
          </a:xfrm>
          <a:prstGeom prst="bentConnector3">
            <a:avLst>
              <a:gd name="adj1" fmla="val 74346"/>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14D0AE0-91BE-DA48-675F-F144984CDA51}"/>
              </a:ext>
            </a:extLst>
          </p:cNvPr>
          <p:cNvCxnSpPr>
            <a:cxnSpLocks/>
            <a:endCxn id="19" idx="0"/>
          </p:cNvCxnSpPr>
          <p:nvPr/>
        </p:nvCxnSpPr>
        <p:spPr>
          <a:xfrm>
            <a:off x="3409111" y="3810000"/>
            <a:ext cx="0" cy="9430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56D497F5-5AB9-9DBE-A560-D89456F39800}"/>
              </a:ext>
            </a:extLst>
          </p:cNvPr>
          <p:cNvCxnSpPr>
            <a:cxnSpLocks/>
            <a:stCxn id="11" idx="3"/>
          </p:cNvCxnSpPr>
          <p:nvPr/>
        </p:nvCxnSpPr>
        <p:spPr>
          <a:xfrm>
            <a:off x="983411" y="2680102"/>
            <a:ext cx="3271508" cy="1391499"/>
          </a:xfrm>
          <a:prstGeom prst="bentConnector3">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0687EBB-3583-86FA-2C37-66D4C2D762DA}"/>
              </a:ext>
            </a:extLst>
          </p:cNvPr>
          <p:cNvCxnSpPr>
            <a:cxnSpLocks/>
            <a:endCxn id="20" idx="0"/>
          </p:cNvCxnSpPr>
          <p:nvPr/>
        </p:nvCxnSpPr>
        <p:spPr>
          <a:xfrm>
            <a:off x="4254920" y="4071601"/>
            <a:ext cx="0" cy="6858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7E1212FA-1D4C-6092-A313-2E97907A8737}"/>
              </a:ext>
            </a:extLst>
          </p:cNvPr>
          <p:cNvCxnSpPr>
            <a:stCxn id="14" idx="3"/>
          </p:cNvCxnSpPr>
          <p:nvPr/>
        </p:nvCxnSpPr>
        <p:spPr>
          <a:xfrm>
            <a:off x="976222" y="3128999"/>
            <a:ext cx="5696354" cy="1244103"/>
          </a:xfrm>
          <a:prstGeom prst="bentConnector3">
            <a:avLst>
              <a:gd name="adj1" fmla="val 26033"/>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838DF2F-4B4C-DF10-B28C-682DB090FAF2}"/>
              </a:ext>
            </a:extLst>
          </p:cNvPr>
          <p:cNvCxnSpPr/>
          <p:nvPr/>
        </p:nvCxnSpPr>
        <p:spPr>
          <a:xfrm>
            <a:off x="6672576" y="4367406"/>
            <a:ext cx="0" cy="3926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0FD6CDEC-0D35-8802-424E-AFF56319DD7A}"/>
              </a:ext>
            </a:extLst>
          </p:cNvPr>
          <p:cNvSpPr/>
          <p:nvPr/>
        </p:nvSpPr>
        <p:spPr>
          <a:xfrm>
            <a:off x="146648" y="1446039"/>
            <a:ext cx="2652023"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Connector: Elbow 57">
            <a:extLst>
              <a:ext uri="{FF2B5EF4-FFF2-40B4-BE49-F238E27FC236}">
                <a16:creationId xmlns:a16="http://schemas.microsoft.com/office/drawing/2014/main" id="{CBBF5C01-E361-442C-1723-2563EFFCC044}"/>
              </a:ext>
            </a:extLst>
          </p:cNvPr>
          <p:cNvCxnSpPr>
            <a:cxnSpLocks/>
            <a:stCxn id="56" idx="1"/>
            <a:endCxn id="23" idx="0"/>
          </p:cNvCxnSpPr>
          <p:nvPr/>
        </p:nvCxnSpPr>
        <p:spPr>
          <a:xfrm rot="10800000" flipH="1" flipV="1">
            <a:off x="146647" y="1670325"/>
            <a:ext cx="332417" cy="3065811"/>
          </a:xfrm>
          <a:prstGeom prst="bentConnector4">
            <a:avLst>
              <a:gd name="adj1" fmla="val -17192"/>
              <a:gd name="adj2" fmla="val 8327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3CA91039-D4AF-54E2-3069-9A63C75BA7E1}"/>
              </a:ext>
            </a:extLst>
          </p:cNvPr>
          <p:cNvCxnSpPr>
            <a:stCxn id="12" idx="2"/>
            <a:endCxn id="17" idx="0"/>
          </p:cNvCxnSpPr>
          <p:nvPr/>
        </p:nvCxnSpPr>
        <p:spPr>
          <a:xfrm rot="5400000">
            <a:off x="1302270" y="2764167"/>
            <a:ext cx="1840340" cy="2120780"/>
          </a:xfrm>
          <a:prstGeom prst="bentConnector3">
            <a:avLst>
              <a:gd name="adj1" fmla="val 279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A86396D-F5DE-0A4B-1F8E-3DEB83B96870}"/>
              </a:ext>
            </a:extLst>
          </p:cNvPr>
          <p:cNvCxnSpPr>
            <a:stCxn id="13" idx="2"/>
            <a:endCxn id="18" idx="0"/>
          </p:cNvCxnSpPr>
          <p:nvPr/>
        </p:nvCxnSpPr>
        <p:spPr>
          <a:xfrm rot="5400000">
            <a:off x="3132229" y="1860469"/>
            <a:ext cx="1840340" cy="3928176"/>
          </a:xfrm>
          <a:prstGeom prst="bentConnector3">
            <a:avLst>
              <a:gd name="adj1" fmla="val 3516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3430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E46559-32F8-FC4A-5427-1DFB2E1AE6C5}"/>
              </a:ext>
            </a:extLst>
          </p:cNvPr>
          <p:cNvPicPr>
            <a:picLocks noChangeAspect="1"/>
          </p:cNvPicPr>
          <p:nvPr/>
        </p:nvPicPr>
        <p:blipFill>
          <a:blip r:embed="rId3"/>
          <a:stretch>
            <a:fillRect/>
          </a:stretch>
        </p:blipFill>
        <p:spPr>
          <a:xfrm>
            <a:off x="0" y="6054"/>
            <a:ext cx="8356284" cy="4610100"/>
          </a:xfrm>
          <a:prstGeom prst="rect">
            <a:avLst/>
          </a:prstGeom>
        </p:spPr>
      </p:pic>
      <p:sp>
        <p:nvSpPr>
          <p:cNvPr id="6" name="TextBox 5">
            <a:extLst>
              <a:ext uri="{FF2B5EF4-FFF2-40B4-BE49-F238E27FC236}">
                <a16:creationId xmlns:a16="http://schemas.microsoft.com/office/drawing/2014/main" id="{34B6239A-D6AF-DFFA-3023-4109DA5060EE}"/>
              </a:ext>
            </a:extLst>
          </p:cNvPr>
          <p:cNvSpPr txBox="1"/>
          <p:nvPr/>
        </p:nvSpPr>
        <p:spPr>
          <a:xfrm>
            <a:off x="0" y="5934669"/>
            <a:ext cx="1219200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Instead of FTP, we will use ISAPI.</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After filling information for RTSP an ISAPI, please create a service that generate </a:t>
            </a:r>
            <a:r>
              <a:rPr lang="en-US" dirty="0" err="1">
                <a:latin typeface="Arial" panose="020B0604020202020204" pitchFamily="34" charset="0"/>
                <a:cs typeface="Arial" panose="020B0604020202020204" pitchFamily="34" charset="0"/>
              </a:rPr>
              <a:t>rtsp</a:t>
            </a:r>
            <a:r>
              <a:rPr lang="en-US" dirty="0">
                <a:latin typeface="Arial" panose="020B0604020202020204" pitchFamily="34" charset="0"/>
                <a:cs typeface="Arial" panose="020B0604020202020204" pitchFamily="34" charset="0"/>
              </a:rPr>
              <a:t> or </a:t>
            </a:r>
            <a:r>
              <a:rPr lang="en-US" dirty="0" err="1">
                <a:latin typeface="Arial" panose="020B0604020202020204" pitchFamily="34" charset="0"/>
                <a:cs typeface="Arial" panose="020B0604020202020204" pitchFamily="34" charset="0"/>
              </a:rPr>
              <a:t>isapi</a:t>
            </a:r>
            <a:r>
              <a:rPr lang="en-US" dirty="0">
                <a:latin typeface="Arial" panose="020B0604020202020204" pitchFamily="34" charset="0"/>
                <a:cs typeface="Arial" panose="020B0604020202020204" pitchFamily="34" charset="0"/>
              </a:rPr>
              <a:t> link which formats are similar. </a:t>
            </a:r>
          </a:p>
          <a:p>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D02A04F4-A042-15A2-3D9C-AF8EE12D3CE5}"/>
              </a:ext>
            </a:extLst>
          </p:cNvPr>
          <p:cNvSpPr txBox="1"/>
          <p:nvPr/>
        </p:nvSpPr>
        <p:spPr>
          <a:xfrm>
            <a:off x="202501" y="5340725"/>
            <a:ext cx="7966540" cy="369332"/>
          </a:xfrm>
          <a:prstGeom prst="rect">
            <a:avLst/>
          </a:prstGeom>
          <a:noFill/>
        </p:spPr>
        <p:txBody>
          <a:bodyPr wrap="none" rtlCol="0">
            <a:spAutoFit/>
          </a:bodyPr>
          <a:lstStyle/>
          <a:p>
            <a:r>
              <a:rPr lang="en-US" dirty="0"/>
              <a:t>http://admin:decode123@147.50.93.37:64/ISAPI/Streaming/channels/101/picture</a:t>
            </a:r>
          </a:p>
        </p:txBody>
      </p:sp>
      <p:sp>
        <p:nvSpPr>
          <p:cNvPr id="10" name="Rectangle: Rounded Corners 9">
            <a:extLst>
              <a:ext uri="{FF2B5EF4-FFF2-40B4-BE49-F238E27FC236}">
                <a16:creationId xmlns:a16="http://schemas.microsoft.com/office/drawing/2014/main" id="{4BB6BC00-40CF-D4E4-33A2-6889FEBB7ED9}"/>
              </a:ext>
            </a:extLst>
          </p:cNvPr>
          <p:cNvSpPr/>
          <p:nvPr/>
        </p:nvSpPr>
        <p:spPr>
          <a:xfrm>
            <a:off x="146649" y="1966823"/>
            <a:ext cx="836762"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0773A9E-B227-17DB-BFC1-793B5804AE60}"/>
              </a:ext>
            </a:extLst>
          </p:cNvPr>
          <p:cNvSpPr/>
          <p:nvPr/>
        </p:nvSpPr>
        <p:spPr>
          <a:xfrm>
            <a:off x="146649" y="2455815"/>
            <a:ext cx="836762"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E8C572F-A142-158F-7355-419F6B0A5E6B}"/>
              </a:ext>
            </a:extLst>
          </p:cNvPr>
          <p:cNvSpPr/>
          <p:nvPr/>
        </p:nvSpPr>
        <p:spPr>
          <a:xfrm>
            <a:off x="2864449" y="2455814"/>
            <a:ext cx="836762" cy="448573"/>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E22096F-AC0E-5532-AA1A-ED026CFFE9DF}"/>
              </a:ext>
            </a:extLst>
          </p:cNvPr>
          <p:cNvSpPr/>
          <p:nvPr/>
        </p:nvSpPr>
        <p:spPr>
          <a:xfrm>
            <a:off x="5598106" y="2455814"/>
            <a:ext cx="836762" cy="448573"/>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489FA5F2-E830-7510-69CB-8A1CB8E25316}"/>
              </a:ext>
            </a:extLst>
          </p:cNvPr>
          <p:cNvSpPr/>
          <p:nvPr/>
        </p:nvSpPr>
        <p:spPr>
          <a:xfrm>
            <a:off x="139460" y="2904712"/>
            <a:ext cx="836762"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FD2DE5C-F271-893A-DC29-C5E33980DD2B}"/>
              </a:ext>
            </a:extLst>
          </p:cNvPr>
          <p:cNvSpPr/>
          <p:nvPr/>
        </p:nvSpPr>
        <p:spPr>
          <a:xfrm>
            <a:off x="825500" y="5340725"/>
            <a:ext cx="673100" cy="369332"/>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0B675B03-9B2A-C108-58E0-730723CD3582}"/>
              </a:ext>
            </a:extLst>
          </p:cNvPr>
          <p:cNvSpPr/>
          <p:nvPr/>
        </p:nvSpPr>
        <p:spPr>
          <a:xfrm>
            <a:off x="4381500" y="5340725"/>
            <a:ext cx="515028"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96459F0E-005C-D1A6-F305-C7924BBC5C0B}"/>
              </a:ext>
            </a:extLst>
          </p:cNvPr>
          <p:cNvSpPr/>
          <p:nvPr/>
        </p:nvSpPr>
        <p:spPr>
          <a:xfrm>
            <a:off x="1554072" y="5349315"/>
            <a:ext cx="1068478" cy="369332"/>
          </a:xfrm>
          <a:prstGeom prst="roundRect">
            <a:avLst/>
          </a:prstGeom>
          <a:no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3A77C01C-797D-7370-2A16-FB8AAE8627F1}"/>
              </a:ext>
            </a:extLst>
          </p:cNvPr>
          <p:cNvSpPr/>
          <p:nvPr/>
        </p:nvSpPr>
        <p:spPr>
          <a:xfrm>
            <a:off x="2798672" y="5357667"/>
            <a:ext cx="1220878"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E5017B7A-5E46-0A85-885B-14A9B7066BCC}"/>
              </a:ext>
            </a:extLst>
          </p:cNvPr>
          <p:cNvSpPr/>
          <p:nvPr/>
        </p:nvSpPr>
        <p:spPr>
          <a:xfrm>
            <a:off x="4019549" y="5349196"/>
            <a:ext cx="361951"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0E7923B3-F8BE-736A-B73E-5C3F9A8A4122}"/>
              </a:ext>
            </a:extLst>
          </p:cNvPr>
          <p:cNvSpPr/>
          <p:nvPr/>
        </p:nvSpPr>
        <p:spPr>
          <a:xfrm>
            <a:off x="6844445" y="5357667"/>
            <a:ext cx="470739" cy="369332"/>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Connector: Elbow 38">
            <a:extLst>
              <a:ext uri="{FF2B5EF4-FFF2-40B4-BE49-F238E27FC236}">
                <a16:creationId xmlns:a16="http://schemas.microsoft.com/office/drawing/2014/main" id="{705A5BE0-DE98-8A0F-6835-6DA6E1CEEDAE}"/>
              </a:ext>
            </a:extLst>
          </p:cNvPr>
          <p:cNvCxnSpPr>
            <a:cxnSpLocks/>
            <a:stCxn id="10" idx="3"/>
          </p:cNvCxnSpPr>
          <p:nvPr/>
        </p:nvCxnSpPr>
        <p:spPr>
          <a:xfrm>
            <a:off x="983411" y="2191110"/>
            <a:ext cx="2425700" cy="1618890"/>
          </a:xfrm>
          <a:prstGeom prst="bentConnector3">
            <a:avLst>
              <a:gd name="adj1" fmla="val 74346"/>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14D0AE0-91BE-DA48-675F-F144984CDA51}"/>
              </a:ext>
            </a:extLst>
          </p:cNvPr>
          <p:cNvCxnSpPr>
            <a:cxnSpLocks/>
            <a:endCxn id="27" idx="0"/>
          </p:cNvCxnSpPr>
          <p:nvPr/>
        </p:nvCxnSpPr>
        <p:spPr>
          <a:xfrm>
            <a:off x="3409111" y="3810000"/>
            <a:ext cx="0" cy="15476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56D497F5-5AB9-9DBE-A560-D89456F39800}"/>
              </a:ext>
            </a:extLst>
          </p:cNvPr>
          <p:cNvCxnSpPr>
            <a:cxnSpLocks/>
            <a:stCxn id="11" idx="3"/>
          </p:cNvCxnSpPr>
          <p:nvPr/>
        </p:nvCxnSpPr>
        <p:spPr>
          <a:xfrm>
            <a:off x="983411" y="2680102"/>
            <a:ext cx="3189748" cy="1388552"/>
          </a:xfrm>
          <a:prstGeom prst="bentConnector3">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0687EBB-3583-86FA-2C37-66D4C2D762DA}"/>
              </a:ext>
            </a:extLst>
          </p:cNvPr>
          <p:cNvCxnSpPr>
            <a:cxnSpLocks/>
            <a:endCxn id="28" idx="0"/>
          </p:cNvCxnSpPr>
          <p:nvPr/>
        </p:nvCxnSpPr>
        <p:spPr>
          <a:xfrm>
            <a:off x="4185771" y="4071601"/>
            <a:ext cx="14754" cy="12775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7E1212FA-1D4C-6092-A313-2E97907A8737}"/>
              </a:ext>
            </a:extLst>
          </p:cNvPr>
          <p:cNvCxnSpPr>
            <a:cxnSpLocks/>
            <a:stCxn id="14" idx="3"/>
          </p:cNvCxnSpPr>
          <p:nvPr/>
        </p:nvCxnSpPr>
        <p:spPr>
          <a:xfrm>
            <a:off x="976222" y="3128999"/>
            <a:ext cx="6103592" cy="1234386"/>
          </a:xfrm>
          <a:prstGeom prst="bentConnector3">
            <a:avLst>
              <a:gd name="adj1" fmla="val 22118"/>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838DF2F-4B4C-DF10-B28C-682DB090FAF2}"/>
              </a:ext>
            </a:extLst>
          </p:cNvPr>
          <p:cNvCxnSpPr>
            <a:cxnSpLocks/>
          </p:cNvCxnSpPr>
          <p:nvPr/>
        </p:nvCxnSpPr>
        <p:spPr>
          <a:xfrm>
            <a:off x="7079814" y="4363385"/>
            <a:ext cx="0" cy="9773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0FD6CDEC-0D35-8802-424E-AFF56319DD7A}"/>
              </a:ext>
            </a:extLst>
          </p:cNvPr>
          <p:cNvSpPr/>
          <p:nvPr/>
        </p:nvSpPr>
        <p:spPr>
          <a:xfrm>
            <a:off x="146648" y="1446039"/>
            <a:ext cx="2652023" cy="448573"/>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Connector: Elbow 57">
            <a:extLst>
              <a:ext uri="{FF2B5EF4-FFF2-40B4-BE49-F238E27FC236}">
                <a16:creationId xmlns:a16="http://schemas.microsoft.com/office/drawing/2014/main" id="{CBBF5C01-E361-442C-1723-2563EFFCC044}"/>
              </a:ext>
            </a:extLst>
          </p:cNvPr>
          <p:cNvCxnSpPr>
            <a:cxnSpLocks/>
            <a:stCxn id="56" idx="3"/>
            <a:endCxn id="24" idx="0"/>
          </p:cNvCxnSpPr>
          <p:nvPr/>
        </p:nvCxnSpPr>
        <p:spPr>
          <a:xfrm>
            <a:off x="2798671" y="1670326"/>
            <a:ext cx="1840343" cy="3670399"/>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3CA91039-D4AF-54E2-3069-9A63C75BA7E1}"/>
              </a:ext>
            </a:extLst>
          </p:cNvPr>
          <p:cNvCxnSpPr>
            <a:cxnSpLocks/>
            <a:stCxn id="12" idx="2"/>
            <a:endCxn id="22" idx="0"/>
          </p:cNvCxnSpPr>
          <p:nvPr/>
        </p:nvCxnSpPr>
        <p:spPr>
          <a:xfrm rot="5400000">
            <a:off x="1004271" y="3062166"/>
            <a:ext cx="2436338" cy="2120780"/>
          </a:xfrm>
          <a:prstGeom prst="bentConnector3">
            <a:avLst>
              <a:gd name="adj1" fmla="val 1976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A86396D-F5DE-0A4B-1F8E-3DEB83B96870}"/>
              </a:ext>
            </a:extLst>
          </p:cNvPr>
          <p:cNvCxnSpPr>
            <a:cxnSpLocks/>
            <a:stCxn id="13" idx="2"/>
            <a:endCxn id="25" idx="0"/>
          </p:cNvCxnSpPr>
          <p:nvPr/>
        </p:nvCxnSpPr>
        <p:spPr>
          <a:xfrm rot="5400000">
            <a:off x="2829935" y="2162763"/>
            <a:ext cx="2444928" cy="3928176"/>
          </a:xfrm>
          <a:prstGeom prst="bentConnector3">
            <a:avLst>
              <a:gd name="adj1" fmla="val 26625"/>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190606A-C424-19A1-5F98-815B18417642}"/>
              </a:ext>
            </a:extLst>
          </p:cNvPr>
          <p:cNvSpPr txBox="1"/>
          <p:nvPr/>
        </p:nvSpPr>
        <p:spPr>
          <a:xfrm>
            <a:off x="625711" y="1623178"/>
            <a:ext cx="548640" cy="215444"/>
          </a:xfrm>
          <a:prstGeom prst="rect">
            <a:avLst/>
          </a:prstGeom>
          <a:noFill/>
        </p:spPr>
        <p:txBody>
          <a:bodyPr wrap="square" rtlCol="0">
            <a:spAutoFit/>
          </a:bodyPr>
          <a:lstStyle/>
          <a:p>
            <a:r>
              <a:rPr lang="en-US" sz="800" dirty="0">
                <a:solidFill>
                  <a:srgbClr val="FF0000"/>
                </a:solidFill>
                <a:latin typeface="Arial" panose="020B0604020202020204" pitchFamily="34" charset="0"/>
                <a:cs typeface="Arial" panose="020B0604020202020204" pitchFamily="34" charset="0"/>
              </a:rPr>
              <a:t>ISAPI</a:t>
            </a:r>
          </a:p>
        </p:txBody>
      </p:sp>
      <p:cxnSp>
        <p:nvCxnSpPr>
          <p:cNvPr id="26" name="Straight Arrow Connector 25">
            <a:extLst>
              <a:ext uri="{FF2B5EF4-FFF2-40B4-BE49-F238E27FC236}">
                <a16:creationId xmlns:a16="http://schemas.microsoft.com/office/drawing/2014/main" id="{27089D07-DB90-5A93-B666-42DF56DBE8F0}"/>
              </a:ext>
            </a:extLst>
          </p:cNvPr>
          <p:cNvCxnSpPr>
            <a:endCxn id="15" idx="1"/>
          </p:cNvCxnSpPr>
          <p:nvPr/>
        </p:nvCxnSpPr>
        <p:spPr>
          <a:xfrm>
            <a:off x="479065" y="1730900"/>
            <a:ext cx="14664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0C399F8-F964-74E5-15B3-237982D90A99}"/>
              </a:ext>
            </a:extLst>
          </p:cNvPr>
          <p:cNvSpPr txBox="1"/>
          <p:nvPr/>
        </p:nvSpPr>
        <p:spPr>
          <a:xfrm>
            <a:off x="244435" y="2638541"/>
            <a:ext cx="284052" cy="200055"/>
          </a:xfrm>
          <a:prstGeom prst="rect">
            <a:avLst/>
          </a:prstGeom>
          <a:solidFill>
            <a:schemeClr val="bg1"/>
          </a:solidFill>
        </p:spPr>
        <p:txBody>
          <a:bodyPr wrap="none" rtlCol="0">
            <a:spAutoFit/>
          </a:bodyPr>
          <a:lstStyle/>
          <a:p>
            <a:r>
              <a:rPr lang="en-US" sz="700" dirty="0">
                <a:latin typeface="Arial" panose="020B0604020202020204" pitchFamily="34" charset="0"/>
                <a:cs typeface="Arial" panose="020B0604020202020204" pitchFamily="34" charset="0"/>
              </a:rPr>
              <a:t>64</a:t>
            </a:r>
          </a:p>
        </p:txBody>
      </p:sp>
    </p:spTree>
    <p:extLst>
      <p:ext uri="{BB962C8B-B14F-4D97-AF65-F5344CB8AC3E}">
        <p14:creationId xmlns:p14="http://schemas.microsoft.com/office/powerpoint/2010/main" val="1659923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9D4AC2-C1E4-B65A-F7CC-C7C660F5ED7B}"/>
              </a:ext>
            </a:extLst>
          </p:cNvPr>
          <p:cNvPicPr>
            <a:picLocks noChangeAspect="1"/>
          </p:cNvPicPr>
          <p:nvPr/>
        </p:nvPicPr>
        <p:blipFill>
          <a:blip r:embed="rId2"/>
          <a:stretch>
            <a:fillRect/>
          </a:stretch>
        </p:blipFill>
        <p:spPr>
          <a:xfrm>
            <a:off x="0" y="0"/>
            <a:ext cx="7248064" cy="2986839"/>
          </a:xfrm>
          <a:prstGeom prst="rect">
            <a:avLst/>
          </a:prstGeom>
        </p:spPr>
      </p:pic>
      <p:sp>
        <p:nvSpPr>
          <p:cNvPr id="4" name="TextBox 3">
            <a:extLst>
              <a:ext uri="{FF2B5EF4-FFF2-40B4-BE49-F238E27FC236}">
                <a16:creationId xmlns:a16="http://schemas.microsoft.com/office/drawing/2014/main" id="{749FC777-5FC9-1F45-51FA-FF9D17D51F10}"/>
              </a:ext>
            </a:extLst>
          </p:cNvPr>
          <p:cNvSpPr txBox="1"/>
          <p:nvPr/>
        </p:nvSpPr>
        <p:spPr>
          <a:xfrm>
            <a:off x="0" y="6091108"/>
            <a:ext cx="1219200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Please create this FTP service to destinated(customer) server like in FTP in stations but send images which P Wisnu saved in specific path. </a:t>
            </a:r>
          </a:p>
        </p:txBody>
      </p:sp>
      <p:pic>
        <p:nvPicPr>
          <p:cNvPr id="6" name="Picture 5">
            <a:extLst>
              <a:ext uri="{FF2B5EF4-FFF2-40B4-BE49-F238E27FC236}">
                <a16:creationId xmlns:a16="http://schemas.microsoft.com/office/drawing/2014/main" id="{BB634101-1A03-102A-56FA-C24EC274533D}"/>
              </a:ext>
            </a:extLst>
          </p:cNvPr>
          <p:cNvPicPr>
            <a:picLocks noChangeAspect="1"/>
          </p:cNvPicPr>
          <p:nvPr/>
        </p:nvPicPr>
        <p:blipFill>
          <a:blip r:embed="rId3"/>
          <a:stretch>
            <a:fillRect/>
          </a:stretch>
        </p:blipFill>
        <p:spPr>
          <a:xfrm>
            <a:off x="3933645" y="779449"/>
            <a:ext cx="8258355" cy="4901542"/>
          </a:xfrm>
          <a:prstGeom prst="rect">
            <a:avLst/>
          </a:prstGeom>
        </p:spPr>
      </p:pic>
    </p:spTree>
    <p:extLst>
      <p:ext uri="{BB962C8B-B14F-4D97-AF65-F5344CB8AC3E}">
        <p14:creationId xmlns:p14="http://schemas.microsoft.com/office/powerpoint/2010/main" val="41271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E8F817-FB92-84E0-AD4F-D4E88A1FE3F4}"/>
              </a:ext>
            </a:extLst>
          </p:cNvPr>
          <p:cNvPicPr>
            <a:picLocks noChangeAspect="1"/>
          </p:cNvPicPr>
          <p:nvPr/>
        </p:nvPicPr>
        <p:blipFill>
          <a:blip r:embed="rId2"/>
          <a:stretch>
            <a:fillRect/>
          </a:stretch>
        </p:blipFill>
        <p:spPr>
          <a:xfrm>
            <a:off x="0" y="0"/>
            <a:ext cx="7105918" cy="3838755"/>
          </a:xfrm>
          <a:prstGeom prst="rect">
            <a:avLst/>
          </a:prstGeom>
        </p:spPr>
      </p:pic>
      <p:pic>
        <p:nvPicPr>
          <p:cNvPr id="5" name="Picture 4">
            <a:extLst>
              <a:ext uri="{FF2B5EF4-FFF2-40B4-BE49-F238E27FC236}">
                <a16:creationId xmlns:a16="http://schemas.microsoft.com/office/drawing/2014/main" id="{1E6F73DA-221C-6B13-2849-5CE302C67C00}"/>
              </a:ext>
            </a:extLst>
          </p:cNvPr>
          <p:cNvPicPr>
            <a:picLocks noChangeAspect="1"/>
          </p:cNvPicPr>
          <p:nvPr/>
        </p:nvPicPr>
        <p:blipFill>
          <a:blip r:embed="rId3"/>
          <a:stretch>
            <a:fillRect/>
          </a:stretch>
        </p:blipFill>
        <p:spPr>
          <a:xfrm>
            <a:off x="7177177" y="0"/>
            <a:ext cx="5014823" cy="5008010"/>
          </a:xfrm>
          <a:prstGeom prst="rect">
            <a:avLst/>
          </a:prstGeom>
        </p:spPr>
      </p:pic>
      <p:sp>
        <p:nvSpPr>
          <p:cNvPr id="6" name="TextBox 5">
            <a:extLst>
              <a:ext uri="{FF2B5EF4-FFF2-40B4-BE49-F238E27FC236}">
                <a16:creationId xmlns:a16="http://schemas.microsoft.com/office/drawing/2014/main" id="{37FF962D-7B89-110A-4BE4-1DDDE50F9224}"/>
              </a:ext>
            </a:extLst>
          </p:cNvPr>
          <p:cNvSpPr txBox="1"/>
          <p:nvPr/>
        </p:nvSpPr>
        <p:spPr>
          <a:xfrm>
            <a:off x="0" y="5832315"/>
            <a:ext cx="1219200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For Sampling, we has like right image. I think you need to discuss with P Wisnu for better understanding. </a:t>
            </a:r>
          </a:p>
        </p:txBody>
      </p:sp>
    </p:spTree>
    <p:extLst>
      <p:ext uri="{BB962C8B-B14F-4D97-AF65-F5344CB8AC3E}">
        <p14:creationId xmlns:p14="http://schemas.microsoft.com/office/powerpoint/2010/main" val="401590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EB47A0-153E-4152-C44D-5567E1754BE4}"/>
              </a:ext>
            </a:extLst>
          </p:cNvPr>
          <p:cNvPicPr>
            <a:picLocks noChangeAspect="1"/>
          </p:cNvPicPr>
          <p:nvPr/>
        </p:nvPicPr>
        <p:blipFill>
          <a:blip r:embed="rId2"/>
          <a:stretch>
            <a:fillRect/>
          </a:stretch>
        </p:blipFill>
        <p:spPr>
          <a:xfrm>
            <a:off x="1" y="0"/>
            <a:ext cx="6095999" cy="3543554"/>
          </a:xfrm>
          <a:prstGeom prst="rect">
            <a:avLst/>
          </a:prstGeom>
        </p:spPr>
      </p:pic>
      <p:pic>
        <p:nvPicPr>
          <p:cNvPr id="5" name="Picture 4">
            <a:extLst>
              <a:ext uri="{FF2B5EF4-FFF2-40B4-BE49-F238E27FC236}">
                <a16:creationId xmlns:a16="http://schemas.microsoft.com/office/drawing/2014/main" id="{A73DE2D0-AFE1-ABE2-DEEE-591AEA69FE35}"/>
              </a:ext>
            </a:extLst>
          </p:cNvPr>
          <p:cNvPicPr>
            <a:picLocks noChangeAspect="1"/>
          </p:cNvPicPr>
          <p:nvPr/>
        </p:nvPicPr>
        <p:blipFill>
          <a:blip r:embed="rId3"/>
          <a:stretch>
            <a:fillRect/>
          </a:stretch>
        </p:blipFill>
        <p:spPr>
          <a:xfrm>
            <a:off x="6096000" y="3429000"/>
            <a:ext cx="6096000" cy="3132724"/>
          </a:xfrm>
          <a:prstGeom prst="rect">
            <a:avLst/>
          </a:prstGeom>
        </p:spPr>
      </p:pic>
      <p:sp>
        <p:nvSpPr>
          <p:cNvPr id="6" name="Rectangle: Rounded Corners 5">
            <a:extLst>
              <a:ext uri="{FF2B5EF4-FFF2-40B4-BE49-F238E27FC236}">
                <a16:creationId xmlns:a16="http://schemas.microsoft.com/office/drawing/2014/main" id="{5805C36E-214E-FC1B-9CEA-CA9B5425A258}"/>
              </a:ext>
            </a:extLst>
          </p:cNvPr>
          <p:cNvSpPr/>
          <p:nvPr/>
        </p:nvSpPr>
        <p:spPr>
          <a:xfrm>
            <a:off x="767751" y="698740"/>
            <a:ext cx="2294626" cy="83676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88B1A2F-31BF-95DB-70FA-61EF8204B6C2}"/>
              </a:ext>
            </a:extLst>
          </p:cNvPr>
          <p:cNvSpPr/>
          <p:nvPr/>
        </p:nvSpPr>
        <p:spPr>
          <a:xfrm>
            <a:off x="8108830" y="4158599"/>
            <a:ext cx="2009956" cy="96549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Connector: Elbow 8">
            <a:extLst>
              <a:ext uri="{FF2B5EF4-FFF2-40B4-BE49-F238E27FC236}">
                <a16:creationId xmlns:a16="http://schemas.microsoft.com/office/drawing/2014/main" id="{A8ACE9C5-1912-BDEF-10D7-8F39AB1B2000}"/>
              </a:ext>
            </a:extLst>
          </p:cNvPr>
          <p:cNvCxnSpPr>
            <a:stCxn id="7" idx="1"/>
            <a:endCxn id="6" idx="3"/>
          </p:cNvCxnSpPr>
          <p:nvPr/>
        </p:nvCxnSpPr>
        <p:spPr>
          <a:xfrm rot="10800000">
            <a:off x="3062378" y="1117121"/>
            <a:ext cx="5046453" cy="3524224"/>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29E6A4-B184-3786-3BE4-67943A16110A}"/>
              </a:ext>
            </a:extLst>
          </p:cNvPr>
          <p:cNvSpPr txBox="1"/>
          <p:nvPr/>
        </p:nvSpPr>
        <p:spPr>
          <a:xfrm>
            <a:off x="6349042" y="294449"/>
            <a:ext cx="5842957" cy="86177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Camera Type,</a:t>
            </a:r>
          </a:p>
          <a:p>
            <a:r>
              <a:rPr lang="en-US" dirty="0">
                <a:latin typeface="Arial" panose="020B0604020202020204" pitchFamily="34" charset="0"/>
                <a:cs typeface="Arial" panose="020B0604020202020204" pitchFamily="34" charset="0"/>
              </a:rPr>
              <a:t>Sensor = will display value real time. </a:t>
            </a:r>
          </a:p>
          <a:p>
            <a:r>
              <a:rPr lang="en-US" sz="1400" dirty="0">
                <a:latin typeface="Arial" panose="020B0604020202020204" pitchFamily="34" charset="0"/>
                <a:cs typeface="Arial" panose="020B0604020202020204" pitchFamily="34" charset="0"/>
              </a:rPr>
              <a:t>Example; </a:t>
            </a:r>
            <a:r>
              <a:rPr lang="en-US" sz="1400" i="1" dirty="0">
                <a:latin typeface="Arial" panose="020B0604020202020204" pitchFamily="34" charset="0"/>
                <a:cs typeface="Arial" panose="020B0604020202020204" pitchFamily="34" charset="0"/>
              </a:rPr>
              <a:t>http://gprs.decode.co.th:700/captureCCTV/TC.04 </a:t>
            </a:r>
          </a:p>
        </p:txBody>
      </p:sp>
    </p:spTree>
    <p:extLst>
      <p:ext uri="{BB962C8B-B14F-4D97-AF65-F5344CB8AC3E}">
        <p14:creationId xmlns:p14="http://schemas.microsoft.com/office/powerpoint/2010/main" val="778581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B14C24-6E5F-DDE0-3F74-84CF9D8DB56D}"/>
              </a:ext>
            </a:extLst>
          </p:cNvPr>
          <p:cNvPicPr>
            <a:picLocks noChangeAspect="1"/>
          </p:cNvPicPr>
          <p:nvPr/>
        </p:nvPicPr>
        <p:blipFill>
          <a:blip r:embed="rId2"/>
          <a:stretch>
            <a:fillRect/>
          </a:stretch>
        </p:blipFill>
        <p:spPr>
          <a:xfrm>
            <a:off x="0" y="0"/>
            <a:ext cx="8220380" cy="4804913"/>
          </a:xfrm>
          <a:prstGeom prst="rect">
            <a:avLst/>
          </a:prstGeom>
        </p:spPr>
      </p:pic>
      <p:sp>
        <p:nvSpPr>
          <p:cNvPr id="6" name="Rectangle: Rounded Corners 5">
            <a:extLst>
              <a:ext uri="{FF2B5EF4-FFF2-40B4-BE49-F238E27FC236}">
                <a16:creationId xmlns:a16="http://schemas.microsoft.com/office/drawing/2014/main" id="{5805C36E-214E-FC1B-9CEA-CA9B5425A258}"/>
              </a:ext>
            </a:extLst>
          </p:cNvPr>
          <p:cNvSpPr/>
          <p:nvPr/>
        </p:nvSpPr>
        <p:spPr>
          <a:xfrm>
            <a:off x="1095555" y="876492"/>
            <a:ext cx="2656936" cy="28467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329E6A4-B184-3786-3BE4-67943A16110A}"/>
              </a:ext>
            </a:extLst>
          </p:cNvPr>
          <p:cNvSpPr txBox="1"/>
          <p:nvPr/>
        </p:nvSpPr>
        <p:spPr>
          <a:xfrm>
            <a:off x="0" y="5254397"/>
            <a:ext cx="6314535" cy="58477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Camera Type,</a:t>
            </a:r>
          </a:p>
          <a:p>
            <a:r>
              <a:rPr lang="en-US" sz="1400" dirty="0">
                <a:latin typeface="Arial" panose="020B0604020202020204" pitchFamily="34" charset="0"/>
                <a:cs typeface="Arial" panose="020B0604020202020204" pitchFamily="34" charset="0"/>
              </a:rPr>
              <a:t>Overview = Pure images Snapshots or FTP images store in specific path.</a:t>
            </a:r>
          </a:p>
        </p:txBody>
      </p:sp>
      <p:pic>
        <p:nvPicPr>
          <p:cNvPr id="11" name="Picture 10">
            <a:extLst>
              <a:ext uri="{FF2B5EF4-FFF2-40B4-BE49-F238E27FC236}">
                <a16:creationId xmlns:a16="http://schemas.microsoft.com/office/drawing/2014/main" id="{CA7367ED-7229-2254-EAB4-2C55080C1966}"/>
              </a:ext>
            </a:extLst>
          </p:cNvPr>
          <p:cNvPicPr>
            <a:picLocks noChangeAspect="1"/>
          </p:cNvPicPr>
          <p:nvPr/>
        </p:nvPicPr>
        <p:blipFill>
          <a:blip r:embed="rId3"/>
          <a:stretch>
            <a:fillRect/>
          </a:stretch>
        </p:blipFill>
        <p:spPr>
          <a:xfrm>
            <a:off x="8304730" y="1837624"/>
            <a:ext cx="3801005" cy="5020376"/>
          </a:xfrm>
          <a:prstGeom prst="rect">
            <a:avLst/>
          </a:prstGeom>
        </p:spPr>
      </p:pic>
      <p:sp>
        <p:nvSpPr>
          <p:cNvPr id="12" name="TextBox 11">
            <a:extLst>
              <a:ext uri="{FF2B5EF4-FFF2-40B4-BE49-F238E27FC236}">
                <a16:creationId xmlns:a16="http://schemas.microsoft.com/office/drawing/2014/main" id="{B2A47AFC-0B26-E509-2EC7-AC43D7882E71}"/>
              </a:ext>
            </a:extLst>
          </p:cNvPr>
          <p:cNvSpPr txBox="1"/>
          <p:nvPr/>
        </p:nvSpPr>
        <p:spPr>
          <a:xfrm>
            <a:off x="8367623" y="1345721"/>
            <a:ext cx="977191" cy="369332"/>
          </a:xfrm>
          <a:prstGeom prst="rect">
            <a:avLst/>
          </a:prstGeom>
          <a:noFill/>
        </p:spPr>
        <p:txBody>
          <a:bodyPr wrap="none" rtlCol="0">
            <a:spAutoFit/>
          </a:bodyPr>
          <a:lstStyle/>
          <a:p>
            <a:r>
              <a:rPr lang="en-US" dirty="0"/>
              <a:t>Example</a:t>
            </a:r>
          </a:p>
        </p:txBody>
      </p:sp>
      <p:sp>
        <p:nvSpPr>
          <p:cNvPr id="2" name="Rectangle: Rounded Corners 1">
            <a:extLst>
              <a:ext uri="{FF2B5EF4-FFF2-40B4-BE49-F238E27FC236}">
                <a16:creationId xmlns:a16="http://schemas.microsoft.com/office/drawing/2014/main" id="{C87FAE42-7BC3-5061-0512-C1A7B846B1C2}"/>
              </a:ext>
            </a:extLst>
          </p:cNvPr>
          <p:cNvSpPr/>
          <p:nvPr/>
        </p:nvSpPr>
        <p:spPr>
          <a:xfrm>
            <a:off x="8220379" y="1797459"/>
            <a:ext cx="3399401" cy="28467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Connector: Elbow 4">
            <a:extLst>
              <a:ext uri="{FF2B5EF4-FFF2-40B4-BE49-F238E27FC236}">
                <a16:creationId xmlns:a16="http://schemas.microsoft.com/office/drawing/2014/main" id="{BB81E07F-06CE-9AAF-2117-E20270DFBC21}"/>
              </a:ext>
            </a:extLst>
          </p:cNvPr>
          <p:cNvCxnSpPr>
            <a:stCxn id="10" idx="3"/>
            <a:endCxn id="2" idx="1"/>
          </p:cNvCxnSpPr>
          <p:nvPr/>
        </p:nvCxnSpPr>
        <p:spPr>
          <a:xfrm flipV="1">
            <a:off x="6314535" y="1939795"/>
            <a:ext cx="1905844" cy="3606990"/>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194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3DE2D0-AFE1-ABE2-DEEE-591AEA69FE35}"/>
              </a:ext>
            </a:extLst>
          </p:cNvPr>
          <p:cNvPicPr>
            <a:picLocks noChangeAspect="1"/>
          </p:cNvPicPr>
          <p:nvPr/>
        </p:nvPicPr>
        <p:blipFill>
          <a:blip r:embed="rId2"/>
          <a:stretch>
            <a:fillRect/>
          </a:stretch>
        </p:blipFill>
        <p:spPr>
          <a:xfrm>
            <a:off x="6096000" y="3429000"/>
            <a:ext cx="6096000" cy="3132724"/>
          </a:xfrm>
          <a:prstGeom prst="rect">
            <a:avLst/>
          </a:prstGeom>
        </p:spPr>
      </p:pic>
      <p:sp>
        <p:nvSpPr>
          <p:cNvPr id="7" name="Rectangle: Rounded Corners 6">
            <a:extLst>
              <a:ext uri="{FF2B5EF4-FFF2-40B4-BE49-F238E27FC236}">
                <a16:creationId xmlns:a16="http://schemas.microsoft.com/office/drawing/2014/main" id="{588B1A2F-31BF-95DB-70FA-61EF8204B6C2}"/>
              </a:ext>
            </a:extLst>
          </p:cNvPr>
          <p:cNvSpPr/>
          <p:nvPr/>
        </p:nvSpPr>
        <p:spPr>
          <a:xfrm>
            <a:off x="8108830" y="4158599"/>
            <a:ext cx="2009956" cy="96549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BA393F9-677B-96BB-0EEB-8B8E76147E30}"/>
              </a:ext>
            </a:extLst>
          </p:cNvPr>
          <p:cNvPicPr>
            <a:picLocks noChangeAspect="1"/>
          </p:cNvPicPr>
          <p:nvPr/>
        </p:nvPicPr>
        <p:blipFill>
          <a:blip r:embed="rId3"/>
          <a:stretch>
            <a:fillRect/>
          </a:stretch>
        </p:blipFill>
        <p:spPr>
          <a:xfrm>
            <a:off x="1" y="0"/>
            <a:ext cx="6096000" cy="4909615"/>
          </a:xfrm>
          <a:prstGeom prst="rect">
            <a:avLst/>
          </a:prstGeom>
        </p:spPr>
      </p:pic>
      <p:sp>
        <p:nvSpPr>
          <p:cNvPr id="8" name="Rectangle: Rounded Corners 7">
            <a:extLst>
              <a:ext uri="{FF2B5EF4-FFF2-40B4-BE49-F238E27FC236}">
                <a16:creationId xmlns:a16="http://schemas.microsoft.com/office/drawing/2014/main" id="{63E548E8-D7AE-DCCD-948F-6DD2C080EDDA}"/>
              </a:ext>
            </a:extLst>
          </p:cNvPr>
          <p:cNvSpPr/>
          <p:nvPr/>
        </p:nvSpPr>
        <p:spPr>
          <a:xfrm>
            <a:off x="161025" y="800048"/>
            <a:ext cx="5644551" cy="158946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CDEC1611-5DD2-188F-9858-442012EBE51C}"/>
              </a:ext>
            </a:extLst>
          </p:cNvPr>
          <p:cNvCxnSpPr>
            <a:stCxn id="7" idx="1"/>
            <a:endCxn id="8" idx="3"/>
          </p:cNvCxnSpPr>
          <p:nvPr/>
        </p:nvCxnSpPr>
        <p:spPr>
          <a:xfrm rot="10800000">
            <a:off x="5805576" y="1594783"/>
            <a:ext cx="2303254" cy="3046562"/>
          </a:xfrm>
          <a:prstGeom prst="bentConnector3">
            <a:avLst>
              <a:gd name="adj1" fmla="val 7809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C0BC4B40-AF03-68E0-2EFE-BE70CEA18EC0}"/>
              </a:ext>
            </a:extLst>
          </p:cNvPr>
          <p:cNvPicPr>
            <a:picLocks noChangeAspect="1"/>
          </p:cNvPicPr>
          <p:nvPr/>
        </p:nvPicPr>
        <p:blipFill>
          <a:blip r:embed="rId4"/>
          <a:stretch>
            <a:fillRect/>
          </a:stretch>
        </p:blipFill>
        <p:spPr>
          <a:xfrm>
            <a:off x="0" y="5202620"/>
            <a:ext cx="6909240" cy="1334368"/>
          </a:xfrm>
          <a:prstGeom prst="rect">
            <a:avLst/>
          </a:prstGeom>
        </p:spPr>
      </p:pic>
      <p:sp>
        <p:nvSpPr>
          <p:cNvPr id="15" name="Rectangle: Rounded Corners 14">
            <a:extLst>
              <a:ext uri="{FF2B5EF4-FFF2-40B4-BE49-F238E27FC236}">
                <a16:creationId xmlns:a16="http://schemas.microsoft.com/office/drawing/2014/main" id="{69C7A912-3BFB-673A-AE69-235A481CBF42}"/>
              </a:ext>
            </a:extLst>
          </p:cNvPr>
          <p:cNvSpPr/>
          <p:nvPr/>
        </p:nvSpPr>
        <p:spPr>
          <a:xfrm>
            <a:off x="33066" y="5387058"/>
            <a:ext cx="3091134" cy="96549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628FB55-C185-2368-DDAB-8D529363A87A}"/>
              </a:ext>
            </a:extLst>
          </p:cNvPr>
          <p:cNvSpPr txBox="1"/>
          <p:nvPr/>
        </p:nvSpPr>
        <p:spPr>
          <a:xfrm>
            <a:off x="6257025" y="157149"/>
            <a:ext cx="584295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 Camera Type, Security</a:t>
            </a:r>
          </a:p>
          <a:p>
            <a:r>
              <a:rPr lang="en-US" dirty="0">
                <a:latin typeface="Arial" panose="020B0604020202020204" pitchFamily="34" charset="0"/>
                <a:cs typeface="Arial" panose="020B0604020202020204" pitchFamily="34" charset="0"/>
              </a:rPr>
              <a:t>Please create a service that read new files appear inside specific path. </a:t>
            </a:r>
          </a:p>
        </p:txBody>
      </p:sp>
      <p:sp>
        <p:nvSpPr>
          <p:cNvPr id="19" name="TextBox 18">
            <a:extLst>
              <a:ext uri="{FF2B5EF4-FFF2-40B4-BE49-F238E27FC236}">
                <a16:creationId xmlns:a16="http://schemas.microsoft.com/office/drawing/2014/main" id="{438C8370-C380-F7F1-FF3F-80C6F1987CFE}"/>
              </a:ext>
            </a:extLst>
          </p:cNvPr>
          <p:cNvSpPr txBox="1"/>
          <p:nvPr/>
        </p:nvSpPr>
        <p:spPr>
          <a:xfrm>
            <a:off x="6450758" y="1808476"/>
            <a:ext cx="564922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There will be IP address, Date &amp; Time, Event (Case Reason ) in image format sent by CCTV.</a:t>
            </a:r>
          </a:p>
        </p:txBody>
      </p:sp>
      <p:cxnSp>
        <p:nvCxnSpPr>
          <p:cNvPr id="21" name="Connector: Elbow 20">
            <a:extLst>
              <a:ext uri="{FF2B5EF4-FFF2-40B4-BE49-F238E27FC236}">
                <a16:creationId xmlns:a16="http://schemas.microsoft.com/office/drawing/2014/main" id="{BD4F37F8-6271-696F-AB5F-26D231A09922}"/>
              </a:ext>
            </a:extLst>
          </p:cNvPr>
          <p:cNvCxnSpPr>
            <a:stCxn id="15" idx="3"/>
            <a:endCxn id="19" idx="1"/>
          </p:cNvCxnSpPr>
          <p:nvPr/>
        </p:nvCxnSpPr>
        <p:spPr>
          <a:xfrm flipV="1">
            <a:off x="3124200" y="2131642"/>
            <a:ext cx="3326558" cy="3738162"/>
          </a:xfrm>
          <a:prstGeom prst="bentConnector3">
            <a:avLst>
              <a:gd name="adj1" fmla="val 85219"/>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8267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TotalTime>
  <Words>444</Words>
  <Application>Microsoft Office PowerPoint</Application>
  <PresentationFormat>Widescreen</PresentationFormat>
  <Paragraphs>24</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TH Sarabun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3Ng</dc:creator>
  <cp:lastModifiedBy>3Ng</cp:lastModifiedBy>
  <cp:revision>7</cp:revision>
  <dcterms:created xsi:type="dcterms:W3CDTF">2026-04-30T08:10:38Z</dcterms:created>
  <dcterms:modified xsi:type="dcterms:W3CDTF">2026-05-05T09:15:14Z</dcterms:modified>
</cp:coreProperties>
</file>